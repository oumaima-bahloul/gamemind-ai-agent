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60" r:id="rId6"/>
    <p:sldId id="261" r:id="rId7"/>
    <p:sldId id="268" r:id="rId8"/>
    <p:sldId id="273" r:id="rId9"/>
    <p:sldId id="269" r:id="rId10"/>
    <p:sldId id="264" r:id="rId11"/>
    <p:sldId id="262" r:id="rId12"/>
    <p:sldId id="263" r:id="rId13"/>
    <p:sldId id="271" r:id="rId14"/>
    <p:sldId id="265" r:id="rId15"/>
    <p:sldId id="274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08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4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470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76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18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5029200" cy="5029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2743200"/>
            <a:ext cx="3657600" cy="3657600"/>
          </a:xfrm>
          <a:prstGeom prst="ellipse">
            <a:avLst/>
          </a:prstGeom>
          <a:solidFill>
            <a:srgbClr val="5B21B6">
              <a:alpha val="12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47" y="9601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6647" y="8686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4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GameMind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1576647" y="1828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GAMING AGENT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76647" y="2331720"/>
            <a:ext cx="566928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1576647" y="2468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</a:t>
            </a:r>
            <a:r>
              <a:rPr lang="en-US" sz="1600" dirty="0" err="1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Autonome</a:t>
            </a:r>
            <a:r>
              <a:rPr lang="en-US" sz="1600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Specialisé</a:t>
            </a:r>
            <a:r>
              <a:rPr lang="en-US" sz="1600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Jeux Video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0" y="4297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0" y="44988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/ 2026</a:t>
            </a:r>
            <a:endParaRPr lang="en-US" sz="1300" dirty="0"/>
          </a:p>
        </p:txBody>
      </p:sp>
      <p:pic>
        <p:nvPicPr>
          <p:cNvPr id="27" name="Picture 4" descr="About - - TEK-UP University">
            <a:extLst>
              <a:ext uri="{FF2B5EF4-FFF2-40B4-BE49-F238E27FC236}">
                <a16:creationId xmlns:a16="http://schemas.microsoft.com/office/drawing/2014/main" id="{E141B3F0-23DA-4648-89F6-E48EDD6361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644"/>
          <a:stretch/>
        </p:blipFill>
        <p:spPr bwMode="auto">
          <a:xfrm>
            <a:off x="7848600" y="55376"/>
            <a:ext cx="1282109" cy="109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48F6C191-36AB-47A4-8457-1AB9BFFD6E1C}"/>
              </a:ext>
            </a:extLst>
          </p:cNvPr>
          <p:cNvSpPr txBox="1"/>
          <p:nvPr/>
        </p:nvSpPr>
        <p:spPr>
          <a:xfrm>
            <a:off x="-45720" y="3682481"/>
            <a:ext cx="9144000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rgbClr val="CC99FF"/>
                </a:solidFill>
                <a:latin typeface="Arial Black" panose="020B0A04020102020204" pitchFamily="34" charset="0"/>
              </a:rPr>
              <a:t>Projet réalisé par </a:t>
            </a:r>
          </a:p>
          <a:p>
            <a:pPr algn="ctr"/>
            <a:r>
              <a:rPr lang="fr-FR" sz="1600" dirty="0">
                <a:solidFill>
                  <a:schemeClr val="bg1">
                    <a:lumMod val="95000"/>
                  </a:schemeClr>
                </a:solidFill>
              </a:rPr>
              <a:t>Oumaima Bahloul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Sommaire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68580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887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34440" y="1371600"/>
            <a:ext cx="36576" cy="32004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188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300" b="1" dirty="0"/>
          </a:p>
        </p:txBody>
      </p:sp>
      <p:sp>
        <p:nvSpPr>
          <p:cNvPr id="7" name="Shape 5"/>
          <p:cNvSpPr/>
          <p:nvPr/>
        </p:nvSpPr>
        <p:spPr>
          <a:xfrm>
            <a:off x="453044" y="2057400"/>
            <a:ext cx="4023360" cy="68580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57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234440" y="2240280"/>
            <a:ext cx="36576" cy="32004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926080"/>
            <a:ext cx="4023360" cy="68580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9260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234440" y="3108960"/>
            <a:ext cx="36576" cy="32004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09296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1300" b="1" dirty="0"/>
          </a:p>
        </p:txBody>
      </p:sp>
      <p:sp>
        <p:nvSpPr>
          <p:cNvPr id="15" name="Shape 13"/>
          <p:cNvSpPr/>
          <p:nvPr/>
        </p:nvSpPr>
        <p:spPr>
          <a:xfrm>
            <a:off x="453044" y="3794760"/>
            <a:ext cx="4023360" cy="68580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7947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34440" y="3977640"/>
            <a:ext cx="36576" cy="32004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292099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Outils de l'Agent (Tools)</a:t>
            </a:r>
            <a:endParaRPr lang="en-US" sz="1300" b="1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023360" cy="68580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11887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623560" y="1371600"/>
            <a:ext cx="36576" cy="32004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2" name="Text 20"/>
          <p:cNvSpPr/>
          <p:nvPr/>
        </p:nvSpPr>
        <p:spPr>
          <a:xfrm>
            <a:off x="6654800" y="26746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Utilisateur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2057400"/>
            <a:ext cx="4023360" cy="68580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83480" y="2057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623560" y="2240280"/>
            <a:ext cx="36576" cy="32004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2926080"/>
            <a:ext cx="4023360" cy="68580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83480" y="29260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623560" y="3108960"/>
            <a:ext cx="36576" cy="32004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1" name="Shape 29"/>
          <p:cNvSpPr/>
          <p:nvPr/>
        </p:nvSpPr>
        <p:spPr>
          <a:xfrm>
            <a:off x="4846320" y="3794760"/>
            <a:ext cx="4023360" cy="68580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83480" y="37947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5623560" y="3977640"/>
            <a:ext cx="36576" cy="32004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4" name="Text 32"/>
          <p:cNvSpPr/>
          <p:nvPr/>
        </p:nvSpPr>
        <p:spPr>
          <a:xfrm>
            <a:off x="5760720" y="3794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b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844C935-93EB-429D-B306-BF38458F21E6}"/>
              </a:ext>
            </a:extLst>
          </p:cNvPr>
          <p:cNvSpPr/>
          <p:nvPr/>
        </p:nvSpPr>
        <p:spPr>
          <a:xfrm>
            <a:off x="1306124" y="4007501"/>
            <a:ext cx="313517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 Envisagées</a:t>
            </a:r>
            <a:endParaRPr lang="fr-TN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E75197-A6E2-4AF0-A4AB-CA105987848B}"/>
              </a:ext>
            </a:extLst>
          </p:cNvPr>
          <p:cNvSpPr/>
          <p:nvPr/>
        </p:nvSpPr>
        <p:spPr>
          <a:xfrm>
            <a:off x="5658194" y="2240280"/>
            <a:ext cx="3211485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Utilisateur</a:t>
            </a:r>
            <a:endParaRPr lang="fr-TN" sz="1300" b="1" dirty="0"/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30FC007C-81BE-4678-9F55-84F79B27145E}"/>
              </a:ext>
            </a:extLst>
          </p:cNvPr>
          <p:cNvSpPr/>
          <p:nvPr/>
        </p:nvSpPr>
        <p:spPr>
          <a:xfrm>
            <a:off x="5779346" y="292269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Raisonnement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</a:t>
            </a: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Etapes</a:t>
            </a:r>
            <a:endParaRPr lang="en-US" sz="1300" b="1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2F4E33F-B4DB-4081-84D8-582B079AFC1C}"/>
              </a:ext>
            </a:extLst>
          </p:cNvPr>
          <p:cNvSpPr/>
          <p:nvPr/>
        </p:nvSpPr>
        <p:spPr>
          <a:xfrm>
            <a:off x="5779346" y="1399252"/>
            <a:ext cx="302801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Avantages Concurrentiels</a:t>
            </a:r>
            <a:endParaRPr lang="fr-TN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/ 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que GameMind 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5747" y="1142999"/>
            <a:ext cx="8831483" cy="2866645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1" y="1234440"/>
            <a:ext cx="8352292" cy="2729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GameMind est un agent IA </a:t>
            </a:r>
            <a:r>
              <a:rPr lang="en-US" sz="28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autonome</a:t>
            </a: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specialisé</a:t>
            </a: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dans l'univers du jeu video. Contrairement a un chatbot classique, il planifie ses actions, appelle des outils Python natifs et synthetise des reponses structurees en plusieurs etapes.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14133" y="4174236"/>
            <a:ext cx="2834640" cy="566928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93" y="426567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8493" y="42199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Raisonnement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8493" y="44759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Multi-etapes ReAct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85933" y="4192524"/>
            <a:ext cx="2834640" cy="566928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093" y="428396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80293" y="42382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Natifs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780293" y="44942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outils Python integres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12013" y="4174236"/>
            <a:ext cx="2834640" cy="566928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173" y="4265676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06373" y="42199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706373" y="44759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/ EN / AR 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/ Introduction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524934" y="10284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Problematique</a:t>
            </a:r>
            <a:endParaRPr lang="en-US" sz="2800" dirty="0"/>
          </a:p>
        </p:txBody>
      </p:sp>
      <p:sp>
        <p:nvSpPr>
          <p:cNvPr id="19" name="Shape 14"/>
          <p:cNvSpPr/>
          <p:nvPr/>
        </p:nvSpPr>
        <p:spPr>
          <a:xfrm>
            <a:off x="524934" y="1882373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5"/>
          <p:cNvSpPr/>
          <p:nvPr/>
        </p:nvSpPr>
        <p:spPr>
          <a:xfrm>
            <a:off x="834815" y="1920579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concevoir un agent specialise capable de comprendre des requetes gaming complexes ?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524934" y="272719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17"/>
          <p:cNvSpPr/>
          <p:nvPr/>
        </p:nvSpPr>
        <p:spPr>
          <a:xfrm>
            <a:off x="834815" y="2736935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selectionner et executer automatiquement les bons outils selon le contexte ?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524934" y="3572023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19"/>
          <p:cNvSpPr/>
          <p:nvPr/>
        </p:nvSpPr>
        <p:spPr>
          <a:xfrm>
            <a:off x="834815" y="3645175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offrir une UX moderne, multilingue et deployable sans infrastructure lourde 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81493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/ Architecture Technique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47472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97480" cy="548640"/>
          </a:xfrm>
          <a:prstGeom prst="rect">
            <a:avLst/>
          </a:prstGeom>
          <a:solidFill>
            <a:srgbClr val="4C1D9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18872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43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81999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/ CSS3 / JavaScript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1480" y="2103120"/>
            <a:ext cx="2514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chat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 (Dark/Light/Neon)</a:t>
            </a:r>
            <a:endParaRPr lang="en-US" sz="160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</a:t>
            </a:r>
            <a:r>
              <a:rPr lang="en-US" sz="16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fichiers</a:t>
            </a:r>
            <a:endParaRPr lang="en-US" sz="160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</a:t>
            </a:r>
            <a:r>
              <a:rPr lang="en-US" sz="16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reponse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pre-remplis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017520" y="2743200"/>
            <a:ext cx="2286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3035808" y="257860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246120" y="1097280"/>
            <a:ext cx="2697480" cy="347472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097280"/>
            <a:ext cx="2697480" cy="548640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18872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94760" y="1143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37560" y="1772581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Flask / Flask-CORS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337560" y="2103120"/>
            <a:ext cx="2514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/api/chat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Gestion CORS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modeles (texte vs vision)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agent + tools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943600" y="2743200"/>
            <a:ext cx="2286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5"/>
          <p:cNvSpPr/>
          <p:nvPr/>
        </p:nvSpPr>
        <p:spPr>
          <a:xfrm>
            <a:off x="5961888" y="257860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172200" y="1097280"/>
            <a:ext cx="2697480" cy="347472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72200" y="1097280"/>
            <a:ext cx="2697480" cy="5486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188720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20840" y="1143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272784" y="17556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 / LLaMA 3.3 70B / LLaMA 4 Scout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263640" y="2103120"/>
            <a:ext cx="2514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Raisonnement </a:t>
            </a:r>
            <a:r>
              <a:rPr lang="en-US" sz="16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autonome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calling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Planification multi-etapes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Synthese multilingue structuree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/ Les Outils de l'Agent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 : 2 outils Python natifs integres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34532"/>
            <a:ext cx="4114800" cy="3288147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34532"/>
            <a:ext cx="4114800" cy="602827"/>
          </a:xfrm>
          <a:prstGeom prst="rect">
            <a:avLst/>
          </a:prstGeom>
          <a:solidFill>
            <a:srgbClr val="5B21B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7684"/>
            <a:ext cx="347472" cy="41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52821"/>
            <a:ext cx="3383280" cy="569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get_game_latest_news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756324"/>
            <a:ext cx="1371600" cy="41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Parametre</a:t>
            </a:r>
            <a:endParaRPr lang="en-US" sz="1100" b="1" dirty="0"/>
          </a:p>
        </p:txBody>
      </p:sp>
      <p:sp>
        <p:nvSpPr>
          <p:cNvPr id="9" name="Text 6"/>
          <p:cNvSpPr/>
          <p:nvPr/>
        </p:nvSpPr>
        <p:spPr>
          <a:xfrm>
            <a:off x="1920240" y="1756324"/>
            <a:ext cx="2468880" cy="41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game_name (string)</a:t>
            </a:r>
            <a:endParaRPr lang="en-US" sz="1100" b="1" dirty="0"/>
          </a:p>
        </p:txBody>
      </p:sp>
      <p:sp>
        <p:nvSpPr>
          <p:cNvPr id="10" name="Text 7"/>
          <p:cNvSpPr/>
          <p:nvPr/>
        </p:nvSpPr>
        <p:spPr>
          <a:xfrm>
            <a:off x="457200" y="2204380"/>
            <a:ext cx="1371600" cy="41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Declencheur</a:t>
            </a:r>
            <a:endParaRPr lang="en-US" sz="1100" b="1" dirty="0"/>
          </a:p>
        </p:txBody>
      </p:sp>
      <p:sp>
        <p:nvSpPr>
          <p:cNvPr id="11" name="Text 8"/>
          <p:cNvSpPr/>
          <p:nvPr/>
        </p:nvSpPr>
        <p:spPr>
          <a:xfrm>
            <a:off x="1920240" y="2204380"/>
            <a:ext cx="2468880" cy="41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Actualites, sorties, nouveautes</a:t>
            </a:r>
            <a:endParaRPr lang="en-US" sz="1100" b="1" dirty="0"/>
          </a:p>
        </p:txBody>
      </p:sp>
      <p:sp>
        <p:nvSpPr>
          <p:cNvPr id="12" name="Text 9"/>
          <p:cNvSpPr/>
          <p:nvPr/>
        </p:nvSpPr>
        <p:spPr>
          <a:xfrm>
            <a:off x="457200" y="2652436"/>
            <a:ext cx="1371600" cy="41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Logique</a:t>
            </a:r>
            <a:endParaRPr lang="en-US" sz="1100" b="1" dirty="0"/>
          </a:p>
        </p:txBody>
      </p:sp>
      <p:sp>
        <p:nvSpPr>
          <p:cNvPr id="13" name="Text 10"/>
          <p:cNvSpPr/>
          <p:nvPr/>
        </p:nvSpPr>
        <p:spPr>
          <a:xfrm>
            <a:off x="1920240" y="2652436"/>
            <a:ext cx="2468880" cy="41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Correspondance mots-cles + simulation web</a:t>
            </a:r>
            <a:endParaRPr lang="en-US" sz="1100" b="1" dirty="0"/>
          </a:p>
        </p:txBody>
      </p:sp>
      <p:sp>
        <p:nvSpPr>
          <p:cNvPr id="14" name="Text 11"/>
          <p:cNvSpPr/>
          <p:nvPr/>
        </p:nvSpPr>
        <p:spPr>
          <a:xfrm>
            <a:off x="457200" y="3100492"/>
            <a:ext cx="1371600" cy="41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</a:t>
            </a:r>
            <a:endParaRPr lang="en-US" sz="1100" b="1" dirty="0"/>
          </a:p>
        </p:txBody>
      </p:sp>
      <p:sp>
        <p:nvSpPr>
          <p:cNvPr id="15" name="Text 12"/>
          <p:cNvSpPr/>
          <p:nvPr/>
        </p:nvSpPr>
        <p:spPr>
          <a:xfrm>
            <a:off x="1920240" y="3100492"/>
            <a:ext cx="2468880" cy="41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informatif sur le jeu</a:t>
            </a:r>
            <a:endParaRPr lang="en-US" sz="1100" b="1" dirty="0"/>
          </a:p>
        </p:txBody>
      </p:sp>
      <p:sp>
        <p:nvSpPr>
          <p:cNvPr id="16" name="Shape 13"/>
          <p:cNvSpPr/>
          <p:nvPr/>
        </p:nvSpPr>
        <p:spPr>
          <a:xfrm>
            <a:off x="365760" y="3603413"/>
            <a:ext cx="4114800" cy="1205654"/>
          </a:xfrm>
          <a:prstGeom prst="rect">
            <a:avLst/>
          </a:prstGeom>
          <a:solidFill>
            <a:srgbClr val="0D0D1A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TN" dirty="0"/>
          </a:p>
        </p:txBody>
      </p:sp>
      <p:sp>
        <p:nvSpPr>
          <p:cNvPr id="17" name="Text 14"/>
          <p:cNvSpPr/>
          <p:nvPr/>
        </p:nvSpPr>
        <p:spPr>
          <a:xfrm>
            <a:off x="502920" y="3764618"/>
            <a:ext cx="3840480" cy="306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"Quelles nouvelles sur GTA 6 ?"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4104812"/>
            <a:ext cx="3840480" cy="602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"Rockstar confirme une MaJ du moteur physique pour 2026..."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663440" y="1134532"/>
            <a:ext cx="4114800" cy="3288147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1134532"/>
            <a:ext cx="4114800" cy="602827"/>
          </a:xfrm>
          <a:prstGeom prst="rect">
            <a:avLst/>
          </a:prstGeom>
          <a:solidFill>
            <a:srgbClr val="5B21B6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07684"/>
            <a:ext cx="347472" cy="41649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57800" y="1152821"/>
            <a:ext cx="3383280" cy="569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calculate_pc_bottleneck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754880" y="1756324"/>
            <a:ext cx="1371600" cy="41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Parametres</a:t>
            </a:r>
            <a:endParaRPr lang="en-US" sz="1100" b="1" dirty="0"/>
          </a:p>
        </p:txBody>
      </p:sp>
      <p:sp>
        <p:nvSpPr>
          <p:cNvPr id="24" name="Text 20"/>
          <p:cNvSpPr/>
          <p:nvPr/>
        </p:nvSpPr>
        <p:spPr>
          <a:xfrm>
            <a:off x="6217920" y="1756324"/>
            <a:ext cx="2468880" cy="41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(string), gpu (string)</a:t>
            </a:r>
            <a:endParaRPr lang="en-US" sz="1100" b="1" dirty="0"/>
          </a:p>
        </p:txBody>
      </p:sp>
      <p:sp>
        <p:nvSpPr>
          <p:cNvPr id="25" name="Text 21"/>
          <p:cNvSpPr/>
          <p:nvPr/>
        </p:nvSpPr>
        <p:spPr>
          <a:xfrm>
            <a:off x="4754880" y="2204380"/>
            <a:ext cx="1371600" cy="41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Declencheur</a:t>
            </a:r>
            <a:endParaRPr lang="en-US" sz="1100" b="1" dirty="0"/>
          </a:p>
        </p:txBody>
      </p:sp>
      <p:sp>
        <p:nvSpPr>
          <p:cNvPr id="26" name="Text 22"/>
          <p:cNvSpPr/>
          <p:nvPr/>
        </p:nvSpPr>
        <p:spPr>
          <a:xfrm>
            <a:off x="6217920" y="2204380"/>
            <a:ext cx="2468880" cy="41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Compatibilite hardware, config PC</a:t>
            </a:r>
            <a:endParaRPr lang="en-US" sz="1100" b="1" dirty="0"/>
          </a:p>
        </p:txBody>
      </p:sp>
      <p:sp>
        <p:nvSpPr>
          <p:cNvPr id="27" name="Text 23"/>
          <p:cNvSpPr/>
          <p:nvPr/>
        </p:nvSpPr>
        <p:spPr>
          <a:xfrm>
            <a:off x="4754880" y="2652436"/>
            <a:ext cx="1371600" cy="41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Logique</a:t>
            </a:r>
            <a:endParaRPr lang="en-US" sz="1100" b="1" dirty="0"/>
          </a:p>
        </p:txBody>
      </p:sp>
      <p:sp>
        <p:nvSpPr>
          <p:cNvPr id="28" name="Text 24"/>
          <p:cNvSpPr/>
          <p:nvPr/>
        </p:nvSpPr>
        <p:spPr>
          <a:xfrm>
            <a:off x="6217920" y="2652436"/>
            <a:ext cx="2468880" cy="41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Regles d'inference sur generations CPU/GPU</a:t>
            </a:r>
            <a:endParaRPr lang="en-US" sz="1100" b="1" dirty="0"/>
          </a:p>
        </p:txBody>
      </p:sp>
      <p:sp>
        <p:nvSpPr>
          <p:cNvPr id="29" name="Text 25"/>
          <p:cNvSpPr/>
          <p:nvPr/>
        </p:nvSpPr>
        <p:spPr>
          <a:xfrm>
            <a:off x="4754880" y="3100492"/>
            <a:ext cx="1371600" cy="41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</a:t>
            </a:r>
            <a:endParaRPr lang="en-US" sz="1100" b="1" dirty="0"/>
          </a:p>
        </p:txBody>
      </p:sp>
      <p:sp>
        <p:nvSpPr>
          <p:cNvPr id="30" name="Text 26"/>
          <p:cNvSpPr/>
          <p:nvPr/>
        </p:nvSpPr>
        <p:spPr>
          <a:xfrm>
            <a:off x="6217920" y="3100492"/>
            <a:ext cx="2468880" cy="41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bottleneck en pourcentage</a:t>
            </a:r>
            <a:endParaRPr lang="en-US" sz="1100" b="1" dirty="0"/>
          </a:p>
        </p:txBody>
      </p:sp>
      <p:sp>
        <p:nvSpPr>
          <p:cNvPr id="31" name="Shape 27"/>
          <p:cNvSpPr/>
          <p:nvPr/>
        </p:nvSpPr>
        <p:spPr>
          <a:xfrm>
            <a:off x="4663440" y="3603413"/>
            <a:ext cx="4114800" cy="1205654"/>
          </a:xfrm>
          <a:prstGeom prst="rect">
            <a:avLst/>
          </a:prstGeom>
          <a:solidFill>
            <a:srgbClr val="0D0D1A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4800600" y="3764618"/>
            <a:ext cx="3840480" cy="306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cpu="i3-12100F"  gpu="RTX 4090"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4800600" y="4104813"/>
            <a:ext cx="3840480" cy="602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"Bottleneck SEVERE (~45%) — CPU limite fortement le GPU"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A78BFA"/>
                </a:solidFill>
                <a:latin typeface="Arial Black" pitchFamily="34" charset="0"/>
              </a:rPr>
              <a:t>04 / Solutions Envisagées</a:t>
            </a:r>
          </a:p>
        </p:txBody>
      </p:sp>
      <p:sp>
        <p:nvSpPr>
          <p:cNvPr id="5" name="ThBg"/>
          <p:cNvSpPr/>
          <p:nvPr/>
        </p:nvSpPr>
        <p:spPr>
          <a:xfrm>
            <a:off x="365760" y="1120988"/>
            <a:ext cx="841176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h1"/>
          <p:cNvSpPr/>
          <p:nvPr/>
        </p:nvSpPr>
        <p:spPr>
          <a:xfrm>
            <a:off x="365760" y="1120988"/>
            <a:ext cx="1828800" cy="36576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FFFFFF"/>
                </a:solidFill>
                <a:latin typeface="Arial" pitchFamily="34" charset="0"/>
              </a:rPr>
              <a:t>Solution</a:t>
            </a:r>
          </a:p>
        </p:txBody>
      </p:sp>
      <p:sp>
        <p:nvSpPr>
          <p:cNvPr id="7" name="Th2"/>
          <p:cNvSpPr/>
          <p:nvPr/>
        </p:nvSpPr>
        <p:spPr>
          <a:xfrm>
            <a:off x="2194560" y="1120988"/>
            <a:ext cx="1828800" cy="36576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FFFFFF"/>
                </a:solidFill>
                <a:latin typeface="Arial" pitchFamily="34" charset="0"/>
              </a:rPr>
              <a:t>Complexite</a:t>
            </a:r>
          </a:p>
        </p:txBody>
      </p:sp>
      <p:sp>
        <p:nvSpPr>
          <p:cNvPr id="8" name="Th3"/>
          <p:cNvSpPr/>
          <p:nvPr/>
        </p:nvSpPr>
        <p:spPr>
          <a:xfrm>
            <a:off x="4023360" y="1120988"/>
            <a:ext cx="2286000" cy="36576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FFFFFF"/>
                </a:solidFill>
                <a:latin typeface="Arial" pitchFamily="34" charset="0"/>
              </a:rPr>
              <a:t>Avantages</a:t>
            </a:r>
          </a:p>
        </p:txBody>
      </p:sp>
      <p:sp>
        <p:nvSpPr>
          <p:cNvPr id="9" name="Th4"/>
          <p:cNvSpPr/>
          <p:nvPr/>
        </p:nvSpPr>
        <p:spPr>
          <a:xfrm>
            <a:off x="6309360" y="1120988"/>
            <a:ext cx="2467200" cy="36576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FFFFFF"/>
                </a:solidFill>
                <a:latin typeface="Arial" pitchFamily="34" charset="0"/>
              </a:rPr>
              <a:t>Inconvenients</a:t>
            </a:r>
          </a:p>
        </p:txBody>
      </p:sp>
      <p:sp>
        <p:nvSpPr>
          <p:cNvPr id="10" name="R1BG"/>
          <p:cNvSpPr/>
          <p:nvPr/>
        </p:nvSpPr>
        <p:spPr>
          <a:xfrm>
            <a:off x="365760" y="1486748"/>
            <a:ext cx="8411760" cy="733214"/>
          </a:xfrm>
          <a:prstGeom prst="rect">
            <a:avLst/>
          </a:prstGeom>
          <a:solidFill>
            <a:srgbClr val="14141F"/>
          </a:solidFill>
          <a:ln w="9144">
            <a:solidFill>
              <a:srgbClr val="3A3A5C"/>
            </a:solidFill>
          </a:ln>
        </p:spPr>
      </p:sp>
      <p:sp>
        <p:nvSpPr>
          <p:cNvPr id="11" name="R1C1"/>
          <p:cNvSpPr/>
          <p:nvPr/>
        </p:nvSpPr>
        <p:spPr>
          <a:xfrm>
            <a:off x="365760" y="1486748"/>
            <a:ext cx="1828800" cy="726439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E9D5FF"/>
                </a:solidFill>
                <a:latin typeface="Arial" pitchFamily="34" charset="0"/>
              </a:rPr>
              <a:t>Chatbot classique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9CA3AF"/>
                </a:solidFill>
                <a:latin typeface="Arial" pitchFamily="34" charset="0"/>
              </a:rPr>
              <a:t>(ex: ChatGPT direct)</a:t>
            </a:r>
          </a:p>
        </p:txBody>
      </p:sp>
      <p:sp>
        <p:nvSpPr>
          <p:cNvPr id="12" name="R1C2"/>
          <p:cNvSpPr/>
          <p:nvPr/>
        </p:nvSpPr>
        <p:spPr>
          <a:xfrm>
            <a:off x="2194560" y="1486749"/>
            <a:ext cx="1828800" cy="748452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34D399"/>
                </a:solidFill>
                <a:latin typeface="Arial" pitchFamily="34" charset="0"/>
              </a:rPr>
              <a:t>Faible</a:t>
            </a:r>
          </a:p>
        </p:txBody>
      </p:sp>
      <p:sp>
        <p:nvSpPr>
          <p:cNvPr id="13" name="R1C3"/>
          <p:cNvSpPr/>
          <p:nvPr/>
        </p:nvSpPr>
        <p:spPr>
          <a:xfrm>
            <a:off x="4023360" y="1486748"/>
            <a:ext cx="2286000" cy="74168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D1D5DB"/>
                </a:solidFill>
                <a:latin typeface="Arial" pitchFamily="34" charset="0"/>
              </a:rPr>
              <a:t>Simple a deployer, large base de connaissances</a:t>
            </a:r>
          </a:p>
        </p:txBody>
      </p:sp>
      <p:sp>
        <p:nvSpPr>
          <p:cNvPr id="14" name="R1C4"/>
          <p:cNvSpPr/>
          <p:nvPr/>
        </p:nvSpPr>
        <p:spPr>
          <a:xfrm>
            <a:off x="6309360" y="1486748"/>
            <a:ext cx="2467200" cy="726439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D1D5DB"/>
                </a:solidFill>
                <a:latin typeface="Arial" pitchFamily="34" charset="0"/>
              </a:rPr>
              <a:t>Pas d'outils natifs, generaliste, pas de specialisation gaming</a:t>
            </a:r>
          </a:p>
        </p:txBody>
      </p:sp>
      <p:sp>
        <p:nvSpPr>
          <p:cNvPr id="20" name="R2BG"/>
          <p:cNvSpPr/>
          <p:nvPr/>
        </p:nvSpPr>
        <p:spPr>
          <a:xfrm>
            <a:off x="365760" y="2228428"/>
            <a:ext cx="8411760" cy="733213"/>
          </a:xfrm>
          <a:prstGeom prst="rect">
            <a:avLst/>
          </a:prstGeom>
          <a:solidFill>
            <a:srgbClr val="1A1A28"/>
          </a:solidFill>
          <a:ln w="9144">
            <a:solidFill>
              <a:srgbClr val="3A3A5C"/>
            </a:solidFill>
          </a:ln>
        </p:spPr>
      </p:sp>
      <p:sp>
        <p:nvSpPr>
          <p:cNvPr id="21" name="R2C1"/>
          <p:cNvSpPr/>
          <p:nvPr/>
        </p:nvSpPr>
        <p:spPr>
          <a:xfrm>
            <a:off x="365760" y="2235201"/>
            <a:ext cx="1828800" cy="74168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E9D5FF"/>
                </a:solidFill>
                <a:latin typeface="Arial" pitchFamily="34" charset="0"/>
              </a:rPr>
              <a:t>Agent LangChain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9CA3AF"/>
                </a:solidFill>
                <a:latin typeface="Arial" pitchFamily="34" charset="0"/>
              </a:rPr>
              <a:t>(framework agent)</a:t>
            </a:r>
          </a:p>
        </p:txBody>
      </p:sp>
      <p:sp>
        <p:nvSpPr>
          <p:cNvPr id="22" name="R2C2"/>
          <p:cNvSpPr/>
          <p:nvPr/>
        </p:nvSpPr>
        <p:spPr>
          <a:xfrm>
            <a:off x="2194560" y="2219962"/>
            <a:ext cx="1828800" cy="756919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FBBF24"/>
                </a:solidFill>
                <a:latin typeface="Arial" pitchFamily="34" charset="0"/>
              </a:rPr>
              <a:t>Elevee</a:t>
            </a:r>
          </a:p>
        </p:txBody>
      </p:sp>
      <p:sp>
        <p:nvSpPr>
          <p:cNvPr id="23" name="R2C3"/>
          <p:cNvSpPr/>
          <p:nvPr/>
        </p:nvSpPr>
        <p:spPr>
          <a:xfrm>
            <a:off x="4023360" y="2250441"/>
            <a:ext cx="2286000" cy="72644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D1D5DB"/>
                </a:solidFill>
                <a:latin typeface="Arial" pitchFamily="34" charset="0"/>
              </a:rPr>
              <a:t>Framework robuste, orchestration avancee, ecosysteme riche</a:t>
            </a:r>
          </a:p>
        </p:txBody>
      </p:sp>
      <p:sp>
        <p:nvSpPr>
          <p:cNvPr id="24" name="R2C4"/>
          <p:cNvSpPr/>
          <p:nvPr/>
        </p:nvSpPr>
        <p:spPr>
          <a:xfrm>
            <a:off x="6309360" y="2235201"/>
            <a:ext cx="2467200" cy="74168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D1D5DB"/>
                </a:solidFill>
                <a:latin typeface="Arial" pitchFamily="34" charset="0"/>
              </a:rPr>
              <a:t>Overhead important, </a:t>
            </a:r>
            <a:r>
              <a:rPr lang="fr-FR" sz="1200" dirty="0" err="1">
                <a:solidFill>
                  <a:srgbClr val="D1D5DB"/>
                </a:solidFill>
                <a:latin typeface="Arial" pitchFamily="34" charset="0"/>
              </a:rPr>
              <a:t>dependances</a:t>
            </a:r>
            <a:r>
              <a:rPr lang="fr-FR" sz="1200" dirty="0">
                <a:solidFill>
                  <a:srgbClr val="D1D5DB"/>
                </a:solidFill>
                <a:latin typeface="Arial" pitchFamily="34" charset="0"/>
              </a:rPr>
              <a:t> nombreuses</a:t>
            </a:r>
          </a:p>
        </p:txBody>
      </p:sp>
      <p:sp>
        <p:nvSpPr>
          <p:cNvPr id="30" name="R3BG"/>
          <p:cNvSpPr/>
          <p:nvPr/>
        </p:nvSpPr>
        <p:spPr>
          <a:xfrm>
            <a:off x="365760" y="2961640"/>
            <a:ext cx="8411760" cy="748453"/>
          </a:xfrm>
          <a:prstGeom prst="rect">
            <a:avLst/>
          </a:prstGeom>
          <a:solidFill>
            <a:srgbClr val="14141F"/>
          </a:solidFill>
          <a:ln w="9144">
            <a:solidFill>
              <a:srgbClr val="3A3A5C"/>
            </a:solidFill>
          </a:ln>
        </p:spPr>
      </p:sp>
      <p:sp>
        <p:nvSpPr>
          <p:cNvPr id="31" name="R3C1"/>
          <p:cNvSpPr/>
          <p:nvPr/>
        </p:nvSpPr>
        <p:spPr>
          <a:xfrm>
            <a:off x="364800" y="2976881"/>
            <a:ext cx="1828800" cy="733213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E9D5FF"/>
                </a:solidFill>
                <a:latin typeface="Arial" pitchFamily="34" charset="0"/>
              </a:rPr>
              <a:t>RAG + Vectoriel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9CA3AF"/>
                </a:solidFill>
                <a:latin typeface="Arial" pitchFamily="34" charset="0"/>
              </a:rPr>
              <a:t>(ChromaDB/FAISS)</a:t>
            </a:r>
          </a:p>
        </p:txBody>
      </p:sp>
      <p:sp>
        <p:nvSpPr>
          <p:cNvPr id="32" name="R3C2"/>
          <p:cNvSpPr/>
          <p:nvPr/>
        </p:nvSpPr>
        <p:spPr>
          <a:xfrm>
            <a:off x="2193600" y="2990428"/>
            <a:ext cx="1828800" cy="697652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F87171"/>
                </a:solidFill>
                <a:latin typeface="Arial" pitchFamily="34" charset="0"/>
              </a:rPr>
              <a:t>Tres elevee</a:t>
            </a:r>
          </a:p>
        </p:txBody>
      </p:sp>
      <p:sp>
        <p:nvSpPr>
          <p:cNvPr id="33" name="R3C3"/>
          <p:cNvSpPr/>
          <p:nvPr/>
        </p:nvSpPr>
        <p:spPr>
          <a:xfrm>
            <a:off x="4022400" y="2990428"/>
            <a:ext cx="2286000" cy="697652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D1D5DB"/>
                </a:solidFill>
                <a:latin typeface="Arial" pitchFamily="34" charset="0"/>
              </a:rPr>
              <a:t>Memoire long-terme, reponses precises sur grands corpus</a:t>
            </a:r>
          </a:p>
        </p:txBody>
      </p:sp>
      <p:sp>
        <p:nvSpPr>
          <p:cNvPr id="34" name="R3C4"/>
          <p:cNvSpPr/>
          <p:nvPr/>
        </p:nvSpPr>
        <p:spPr>
          <a:xfrm>
            <a:off x="6308400" y="2990428"/>
            <a:ext cx="2467200" cy="697652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D1D5DB"/>
                </a:solidFill>
                <a:latin typeface="Arial" pitchFamily="34" charset="0"/>
              </a:rPr>
              <a:t>Infrastructure lourde, latence </a:t>
            </a:r>
            <a:r>
              <a:rPr lang="fr-FR" sz="1200" dirty="0" err="1">
                <a:solidFill>
                  <a:srgbClr val="D1D5DB"/>
                </a:solidFill>
                <a:latin typeface="Arial" pitchFamily="34" charset="0"/>
              </a:rPr>
              <a:t>elevee</a:t>
            </a:r>
            <a:endParaRPr lang="fr-FR" sz="1200" dirty="0">
              <a:solidFill>
                <a:srgbClr val="D1D5DB"/>
              </a:solidFill>
              <a:latin typeface="Arial" pitchFamily="34" charset="0"/>
            </a:endParaRPr>
          </a:p>
        </p:txBody>
      </p:sp>
      <p:sp>
        <p:nvSpPr>
          <p:cNvPr id="40" name="R4BG"/>
          <p:cNvSpPr/>
          <p:nvPr/>
        </p:nvSpPr>
        <p:spPr>
          <a:xfrm>
            <a:off x="365760" y="3703320"/>
            <a:ext cx="8411760" cy="733212"/>
          </a:xfrm>
          <a:prstGeom prst="rect">
            <a:avLst/>
          </a:prstGeom>
          <a:solidFill>
            <a:srgbClr val="2D1B69"/>
          </a:solidFill>
          <a:ln w="22860">
            <a:solidFill>
              <a:srgbClr val="A78BFA"/>
            </a:solidFill>
          </a:ln>
        </p:spPr>
      </p:sp>
      <p:sp>
        <p:nvSpPr>
          <p:cNvPr id="41" name="R4C1"/>
          <p:cNvSpPr/>
          <p:nvPr/>
        </p:nvSpPr>
        <p:spPr>
          <a:xfrm>
            <a:off x="364800" y="3723641"/>
            <a:ext cx="1828800" cy="690878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A78BFA"/>
                </a:solidFill>
                <a:latin typeface="Arial" pitchFamily="34" charset="0"/>
              </a:rPr>
              <a:t>Agent ReAct Custom</a:t>
            </a:r>
          </a:p>
          <a:p>
            <a:pPr marL="0" indent="0">
              <a:buNone/>
            </a:pPr>
            <a:r>
              <a:rPr lang="fr-FR" sz="1100" b="1" dirty="0">
                <a:solidFill>
                  <a:srgbClr val="C4B5FD"/>
                </a:solidFill>
                <a:latin typeface="Arial" pitchFamily="34" charset="0"/>
              </a:rPr>
              <a:t>SOLUTION CHOISIE</a:t>
            </a:r>
          </a:p>
        </p:txBody>
      </p:sp>
      <p:sp>
        <p:nvSpPr>
          <p:cNvPr id="42" name="R4C2"/>
          <p:cNvSpPr/>
          <p:nvPr/>
        </p:nvSpPr>
        <p:spPr>
          <a:xfrm>
            <a:off x="2193600" y="3723641"/>
            <a:ext cx="1828800" cy="690878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34D399"/>
                </a:solidFill>
                <a:latin typeface="Arial" pitchFamily="34" charset="0"/>
              </a:rPr>
              <a:t>Moderee</a:t>
            </a:r>
          </a:p>
        </p:txBody>
      </p:sp>
      <p:sp>
        <p:nvSpPr>
          <p:cNvPr id="43" name="R4C3"/>
          <p:cNvSpPr/>
          <p:nvPr/>
        </p:nvSpPr>
        <p:spPr>
          <a:xfrm>
            <a:off x="4022400" y="3723641"/>
            <a:ext cx="2286000" cy="690878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D1D5DB"/>
                </a:solidFill>
                <a:latin typeface="Arial" pitchFamily="34" charset="0"/>
              </a:rPr>
              <a:t>Maitrise totale, outils natifs gaming, deployable, pedagogique</a:t>
            </a:r>
          </a:p>
        </p:txBody>
      </p:sp>
      <p:sp>
        <p:nvSpPr>
          <p:cNvPr id="44" name="R4C4"/>
          <p:cNvSpPr/>
          <p:nvPr/>
        </p:nvSpPr>
        <p:spPr>
          <a:xfrm>
            <a:off x="6308400" y="3723641"/>
            <a:ext cx="2467200" cy="690878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D1D5DB"/>
                </a:solidFill>
                <a:latin typeface="Arial" pitchFamily="34" charset="0"/>
              </a:rPr>
              <a:t>Plus de code a maintenir vs frameworks existants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NoteBG">
            <a:extLst>
              <a:ext uri="{FF2B5EF4-FFF2-40B4-BE49-F238E27FC236}">
                <a16:creationId xmlns:a16="http://schemas.microsoft.com/office/drawing/2014/main" id="{23EDE8A3-5F19-4599-9F38-923E0628AF46}"/>
              </a:ext>
            </a:extLst>
          </p:cNvPr>
          <p:cNvSpPr/>
          <p:nvPr/>
        </p:nvSpPr>
        <p:spPr>
          <a:xfrm>
            <a:off x="366120" y="1218519"/>
            <a:ext cx="8411760" cy="995684"/>
          </a:xfrm>
          <a:prstGeom prst="rect">
            <a:avLst/>
          </a:prstGeom>
          <a:solidFill>
            <a:srgbClr val="1A1A28"/>
          </a:solidFill>
          <a:ln w="9144">
            <a:solidFill>
              <a:srgbClr val="7C3AED"/>
            </a:solidFill>
          </a:ln>
        </p:spPr>
      </p:sp>
      <p:sp>
        <p:nvSpPr>
          <p:cNvPr id="37" name="NoteText">
            <a:extLst>
              <a:ext uri="{FF2B5EF4-FFF2-40B4-BE49-F238E27FC236}">
                <a16:creationId xmlns:a16="http://schemas.microsoft.com/office/drawing/2014/main" id="{61BC737F-A0A5-4937-8F6D-0582A6597FB0}"/>
              </a:ext>
            </a:extLst>
          </p:cNvPr>
          <p:cNvSpPr/>
          <p:nvPr/>
        </p:nvSpPr>
        <p:spPr>
          <a:xfrm>
            <a:off x="366120" y="1218519"/>
            <a:ext cx="8411760" cy="9956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fr-FR" b="1" i="1" dirty="0">
                <a:solidFill>
                  <a:srgbClr val="A78BFA"/>
                </a:solidFill>
                <a:latin typeface="Arial" pitchFamily="34" charset="0"/>
              </a:rPr>
              <a:t>Choix retenu : </a:t>
            </a:r>
          </a:p>
          <a:p>
            <a:pPr marL="0" indent="0" algn="ctr">
              <a:buNone/>
            </a:pPr>
            <a:r>
              <a:rPr lang="fr-FR" dirty="0">
                <a:solidFill>
                  <a:srgbClr val="D1D5DB"/>
                </a:solidFill>
                <a:latin typeface="Arial" pitchFamily="34" charset="0"/>
              </a:rPr>
              <a:t>Agent ReAct custom avec Flask + Groq API = équilibre optimal entre maitrise technique, pedagogie et performance deployable.</a:t>
            </a:r>
          </a:p>
        </p:txBody>
      </p:sp>
      <p:sp>
        <p:nvSpPr>
          <p:cNvPr id="51" name="Shape 1">
            <a:extLst>
              <a:ext uri="{FF2B5EF4-FFF2-40B4-BE49-F238E27FC236}">
                <a16:creationId xmlns:a16="http://schemas.microsoft.com/office/drawing/2014/main" id="{20493CFB-1642-4965-9998-2F8D70398F28}"/>
              </a:ext>
            </a:extLst>
          </p:cNvPr>
          <p:cNvSpPr/>
          <p:nvPr/>
        </p:nvSpPr>
        <p:spPr>
          <a:xfrm>
            <a:off x="366120" y="2727961"/>
            <a:ext cx="1920240" cy="118872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3D7E9EFA-A148-46F4-8F24-566FD8F8602C}"/>
              </a:ext>
            </a:extLst>
          </p:cNvPr>
          <p:cNvSpPr/>
          <p:nvPr/>
        </p:nvSpPr>
        <p:spPr>
          <a:xfrm>
            <a:off x="366120" y="2727961"/>
            <a:ext cx="19202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D32E1F23-E7C6-44D7-ABEA-ABF8CFC2E81F}"/>
              </a:ext>
            </a:extLst>
          </p:cNvPr>
          <p:cNvSpPr/>
          <p:nvPr/>
        </p:nvSpPr>
        <p:spPr>
          <a:xfrm>
            <a:off x="366120" y="2819401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&gt;95%</a:t>
            </a:r>
            <a:endParaRPr lang="en-US" sz="34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0119C582-8A6B-4547-8F1E-AF6A0147A404}"/>
              </a:ext>
            </a:extLst>
          </p:cNvPr>
          <p:cNvSpPr/>
          <p:nvPr/>
        </p:nvSpPr>
        <p:spPr>
          <a:xfrm>
            <a:off x="366120" y="3477769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calling</a:t>
            </a:r>
            <a:endParaRPr lang="en-US" sz="950" dirty="0"/>
          </a:p>
        </p:txBody>
      </p:sp>
      <p:sp>
        <p:nvSpPr>
          <p:cNvPr id="55" name="Shape 5">
            <a:extLst>
              <a:ext uri="{FF2B5EF4-FFF2-40B4-BE49-F238E27FC236}">
                <a16:creationId xmlns:a16="http://schemas.microsoft.com/office/drawing/2014/main" id="{F61AFAED-7D2F-49E3-BE52-93EEC0C0E504}"/>
              </a:ext>
            </a:extLst>
          </p:cNvPr>
          <p:cNvSpPr/>
          <p:nvPr/>
        </p:nvSpPr>
        <p:spPr>
          <a:xfrm>
            <a:off x="2514960" y="2727961"/>
            <a:ext cx="1920240" cy="118872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6">
            <a:extLst>
              <a:ext uri="{FF2B5EF4-FFF2-40B4-BE49-F238E27FC236}">
                <a16:creationId xmlns:a16="http://schemas.microsoft.com/office/drawing/2014/main" id="{20BA4894-73D0-47F9-9EE8-7E0CD1900ED8}"/>
              </a:ext>
            </a:extLst>
          </p:cNvPr>
          <p:cNvSpPr/>
          <p:nvPr/>
        </p:nvSpPr>
        <p:spPr>
          <a:xfrm>
            <a:off x="2514960" y="2727961"/>
            <a:ext cx="19202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5A37B3A3-769F-4CBA-A2D3-B42AFCD01501}"/>
              </a:ext>
            </a:extLst>
          </p:cNvPr>
          <p:cNvSpPr/>
          <p:nvPr/>
        </p:nvSpPr>
        <p:spPr>
          <a:xfrm>
            <a:off x="2514960" y="2819401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&lt;1.2s</a:t>
            </a:r>
            <a:endParaRPr lang="en-US" sz="3400" dirty="0"/>
          </a:p>
        </p:txBody>
      </p:sp>
      <p:sp>
        <p:nvSpPr>
          <p:cNvPr id="58" name="Text 8">
            <a:extLst>
              <a:ext uri="{FF2B5EF4-FFF2-40B4-BE49-F238E27FC236}">
                <a16:creationId xmlns:a16="http://schemas.microsoft.com/office/drawing/2014/main" id="{28DFC959-4B1E-4934-B901-6D935755BD8B}"/>
              </a:ext>
            </a:extLst>
          </p:cNvPr>
          <p:cNvSpPr/>
          <p:nvPr/>
        </p:nvSpPr>
        <p:spPr>
          <a:xfrm>
            <a:off x="2514960" y="3477769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reponse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outil</a:t>
            </a:r>
            <a:endParaRPr lang="en-US" sz="950" dirty="0"/>
          </a:p>
        </p:txBody>
      </p:sp>
      <p:sp>
        <p:nvSpPr>
          <p:cNvPr id="59" name="Shape 9">
            <a:extLst>
              <a:ext uri="{FF2B5EF4-FFF2-40B4-BE49-F238E27FC236}">
                <a16:creationId xmlns:a16="http://schemas.microsoft.com/office/drawing/2014/main" id="{6E810546-23A5-4687-A90F-6DC0B660C5A8}"/>
              </a:ext>
            </a:extLst>
          </p:cNvPr>
          <p:cNvSpPr/>
          <p:nvPr/>
        </p:nvSpPr>
        <p:spPr>
          <a:xfrm>
            <a:off x="4663440" y="2721189"/>
            <a:ext cx="1920240" cy="118872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10">
            <a:extLst>
              <a:ext uri="{FF2B5EF4-FFF2-40B4-BE49-F238E27FC236}">
                <a16:creationId xmlns:a16="http://schemas.microsoft.com/office/drawing/2014/main" id="{880CB182-8895-4C7C-AFE1-E397ED0B3AE8}"/>
              </a:ext>
            </a:extLst>
          </p:cNvPr>
          <p:cNvSpPr/>
          <p:nvPr/>
        </p:nvSpPr>
        <p:spPr>
          <a:xfrm>
            <a:off x="4663440" y="2721189"/>
            <a:ext cx="19202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1" name="Text 11">
            <a:extLst>
              <a:ext uri="{FF2B5EF4-FFF2-40B4-BE49-F238E27FC236}">
                <a16:creationId xmlns:a16="http://schemas.microsoft.com/office/drawing/2014/main" id="{CA365DE6-09FD-47CD-A1C0-CD4215901D5E}"/>
              </a:ext>
            </a:extLst>
          </p:cNvPr>
          <p:cNvSpPr/>
          <p:nvPr/>
        </p:nvSpPr>
        <p:spPr>
          <a:xfrm>
            <a:off x="4663440" y="2812629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400" dirty="0"/>
          </a:p>
        </p:txBody>
      </p:sp>
      <p:sp>
        <p:nvSpPr>
          <p:cNvPr id="62" name="Shape 13">
            <a:extLst>
              <a:ext uri="{FF2B5EF4-FFF2-40B4-BE49-F238E27FC236}">
                <a16:creationId xmlns:a16="http://schemas.microsoft.com/office/drawing/2014/main" id="{FCCC3A34-2C52-4F08-8ABE-04F02568C48C}"/>
              </a:ext>
            </a:extLst>
          </p:cNvPr>
          <p:cNvSpPr/>
          <p:nvPr/>
        </p:nvSpPr>
        <p:spPr>
          <a:xfrm>
            <a:off x="6812280" y="2721189"/>
            <a:ext cx="1920240" cy="118872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3" name="Shape 14">
            <a:extLst>
              <a:ext uri="{FF2B5EF4-FFF2-40B4-BE49-F238E27FC236}">
                <a16:creationId xmlns:a16="http://schemas.microsoft.com/office/drawing/2014/main" id="{199CB210-BDDB-4A5F-A36F-4FA7B8BC95F7}"/>
              </a:ext>
            </a:extLst>
          </p:cNvPr>
          <p:cNvSpPr/>
          <p:nvPr/>
        </p:nvSpPr>
        <p:spPr>
          <a:xfrm>
            <a:off x="6812280" y="2721189"/>
            <a:ext cx="19202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4" name="Text 15">
            <a:extLst>
              <a:ext uri="{FF2B5EF4-FFF2-40B4-BE49-F238E27FC236}">
                <a16:creationId xmlns:a16="http://schemas.microsoft.com/office/drawing/2014/main" id="{C780CBD1-B9B6-43A7-9247-173C6488CF5A}"/>
              </a:ext>
            </a:extLst>
          </p:cNvPr>
          <p:cNvSpPr/>
          <p:nvPr/>
        </p:nvSpPr>
        <p:spPr>
          <a:xfrm>
            <a:off x="6812280" y="2812629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400" dirty="0"/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9129B740-4B4D-4097-8625-839AB35354E6}"/>
              </a:ext>
            </a:extLst>
          </p:cNvPr>
          <p:cNvSpPr/>
          <p:nvPr/>
        </p:nvSpPr>
        <p:spPr>
          <a:xfrm>
            <a:off x="4663440" y="3470997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supportees</a:t>
            </a:r>
            <a:endParaRPr lang="en-US" sz="950" dirty="0"/>
          </a:p>
        </p:txBody>
      </p:sp>
      <p:sp>
        <p:nvSpPr>
          <p:cNvPr id="66" name="Text 16">
            <a:extLst>
              <a:ext uri="{FF2B5EF4-FFF2-40B4-BE49-F238E27FC236}">
                <a16:creationId xmlns:a16="http://schemas.microsoft.com/office/drawing/2014/main" id="{A5A82D3F-AC65-4501-BFE2-42C45A91CC27}"/>
              </a:ext>
            </a:extLst>
          </p:cNvPr>
          <p:cNvSpPr/>
          <p:nvPr/>
        </p:nvSpPr>
        <p:spPr>
          <a:xfrm>
            <a:off x="6812280" y="3470997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visuels</a:t>
            </a:r>
            <a:endParaRPr lang="en-US" sz="950" dirty="0"/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D0E9E184-818A-4C3E-8F5C-88A90D90FD3E}"/>
              </a:ext>
            </a:extLst>
          </p:cNvPr>
          <p:cNvSpPr/>
          <p:nvPr/>
        </p:nvSpPr>
        <p:spPr>
          <a:xfrm>
            <a:off x="457200" y="650409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A78BFA"/>
                </a:solidFill>
                <a:latin typeface="Arial Black" pitchFamily="34" charset="0"/>
              </a:rPr>
              <a:t>Pourquoi la Solution Choisie ?</a:t>
            </a:r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7C6BAD93-029D-47A2-B5A8-DE07C6596C00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A78BFA"/>
                </a:solidFill>
                <a:latin typeface="Arial Black" pitchFamily="34" charset="0"/>
              </a:rPr>
              <a:t>05 / Avantages Concurrentiels</a:t>
            </a:r>
          </a:p>
        </p:txBody>
      </p:sp>
    </p:spTree>
    <p:extLst>
      <p:ext uri="{BB962C8B-B14F-4D97-AF65-F5344CB8AC3E}">
        <p14:creationId xmlns:p14="http://schemas.microsoft.com/office/powerpoint/2010/main" val="172480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1BG"/>
          <p:cNvSpPr/>
          <p:nvPr/>
        </p:nvSpPr>
        <p:spPr>
          <a:xfrm>
            <a:off x="365759" y="1093893"/>
            <a:ext cx="8547947" cy="109728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</a:ln>
        </p:spPr>
      </p:sp>
      <p:sp>
        <p:nvSpPr>
          <p:cNvPr id="11" name="A1Accent"/>
          <p:cNvSpPr/>
          <p:nvPr/>
        </p:nvSpPr>
        <p:spPr>
          <a:xfrm>
            <a:off x="365760" y="1093893"/>
            <a:ext cx="182880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A1Text"/>
          <p:cNvSpPr/>
          <p:nvPr/>
        </p:nvSpPr>
        <p:spPr>
          <a:xfrm>
            <a:off x="640080" y="1093893"/>
            <a:ext cx="8273626" cy="109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FFFFFF"/>
                </a:solidFill>
                <a:latin typeface="Arial" pitchFamily="34" charset="0"/>
              </a:rPr>
              <a:t>Maitrise technique totale</a:t>
            </a:r>
          </a:p>
          <a:p>
            <a:pPr marL="0" indent="0">
              <a:buNone/>
            </a:pPr>
            <a:r>
              <a:rPr lang="fr-FR" dirty="0">
                <a:solidFill>
                  <a:srgbClr val="D1D5DB"/>
                </a:solidFill>
                <a:latin typeface="Arial" pitchFamily="34" charset="0"/>
              </a:rPr>
              <a:t>Vs LangChain : code 100% Python natif, sans abstraction opaque. </a:t>
            </a:r>
          </a:p>
        </p:txBody>
      </p:sp>
      <p:sp>
        <p:nvSpPr>
          <p:cNvPr id="20" name="A2BG"/>
          <p:cNvSpPr/>
          <p:nvPr/>
        </p:nvSpPr>
        <p:spPr>
          <a:xfrm>
            <a:off x="365760" y="2411306"/>
            <a:ext cx="8547946" cy="1097280"/>
          </a:xfrm>
          <a:prstGeom prst="rect">
            <a:avLst/>
          </a:prstGeom>
          <a:solidFill>
            <a:srgbClr val="1A1A28"/>
          </a:solidFill>
          <a:ln w="15240">
            <a:solidFill>
              <a:srgbClr val="5B21B6"/>
            </a:solidFill>
          </a:ln>
        </p:spPr>
      </p:sp>
      <p:sp>
        <p:nvSpPr>
          <p:cNvPr id="21" name="A2Accent"/>
          <p:cNvSpPr/>
          <p:nvPr/>
        </p:nvSpPr>
        <p:spPr>
          <a:xfrm>
            <a:off x="365760" y="2411306"/>
            <a:ext cx="182880" cy="10972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2" name="A2Text"/>
          <p:cNvSpPr/>
          <p:nvPr/>
        </p:nvSpPr>
        <p:spPr>
          <a:xfrm>
            <a:off x="640079" y="2411306"/>
            <a:ext cx="8273625" cy="109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FFFFFF"/>
                </a:solidFill>
                <a:latin typeface="Arial" pitchFamily="34" charset="0"/>
              </a:rPr>
              <a:t>Outils gaming sur mesure</a:t>
            </a:r>
          </a:p>
          <a:p>
            <a:pPr marL="0" indent="0">
              <a:buNone/>
            </a:pPr>
            <a:r>
              <a:rPr lang="fr-FR" dirty="0">
                <a:solidFill>
                  <a:srgbClr val="D1D5DB"/>
                </a:solidFill>
                <a:latin typeface="Arial" pitchFamily="34" charset="0"/>
              </a:rPr>
              <a:t>Vs chatbot generaliste : 2 outils Python </a:t>
            </a:r>
            <a:r>
              <a:rPr lang="fr-FR" dirty="0" err="1">
                <a:solidFill>
                  <a:srgbClr val="D1D5DB"/>
                </a:solidFill>
                <a:latin typeface="Arial" pitchFamily="34" charset="0"/>
              </a:rPr>
              <a:t>dedies</a:t>
            </a:r>
            <a:r>
              <a:rPr lang="fr-FR" dirty="0">
                <a:solidFill>
                  <a:srgbClr val="D1D5DB"/>
                </a:solidFill>
                <a:latin typeface="Arial" pitchFamily="34" charset="0"/>
              </a:rPr>
              <a:t> </a:t>
            </a:r>
            <a:r>
              <a:rPr lang="fr-FR" dirty="0" err="1">
                <a:solidFill>
                  <a:srgbClr val="D1D5DB"/>
                </a:solidFill>
                <a:latin typeface="Arial" pitchFamily="34" charset="0"/>
              </a:rPr>
              <a:t>integres</a:t>
            </a:r>
            <a:r>
              <a:rPr lang="fr-FR" dirty="0">
                <a:solidFill>
                  <a:srgbClr val="D1D5DB"/>
                </a:solidFill>
                <a:latin typeface="Arial" pitchFamily="34" charset="0"/>
              </a:rPr>
              <a:t> nativement via function calling Groq.</a:t>
            </a:r>
          </a:p>
        </p:txBody>
      </p:sp>
      <p:sp>
        <p:nvSpPr>
          <p:cNvPr id="30" name="A3BG"/>
          <p:cNvSpPr/>
          <p:nvPr/>
        </p:nvSpPr>
        <p:spPr>
          <a:xfrm>
            <a:off x="365760" y="3749039"/>
            <a:ext cx="8547944" cy="1097280"/>
          </a:xfrm>
          <a:prstGeom prst="rect">
            <a:avLst/>
          </a:prstGeom>
          <a:solidFill>
            <a:srgbClr val="1A1A28"/>
          </a:solidFill>
          <a:ln w="15240">
            <a:solidFill>
              <a:srgbClr val="4C1D95"/>
            </a:solidFill>
          </a:ln>
        </p:spPr>
      </p:sp>
      <p:sp>
        <p:nvSpPr>
          <p:cNvPr id="31" name="A3Accent"/>
          <p:cNvSpPr/>
          <p:nvPr/>
        </p:nvSpPr>
        <p:spPr>
          <a:xfrm>
            <a:off x="365760" y="3749039"/>
            <a:ext cx="182880" cy="109728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2" name="A3Text"/>
          <p:cNvSpPr/>
          <p:nvPr/>
        </p:nvSpPr>
        <p:spPr>
          <a:xfrm>
            <a:off x="640080" y="3749039"/>
            <a:ext cx="8273624" cy="109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FFFFFF"/>
                </a:solidFill>
                <a:latin typeface="Arial" pitchFamily="34" charset="0"/>
              </a:rPr>
              <a:t>Deployable sans infrastructure</a:t>
            </a:r>
          </a:p>
          <a:p>
            <a:r>
              <a:rPr lang="fr-FR" dirty="0" err="1">
                <a:solidFill>
                  <a:srgbClr val="D1D5DB"/>
                </a:solidFill>
                <a:latin typeface="Arial" pitchFamily="34" charset="0"/>
              </a:rPr>
              <a:t>Deployable</a:t>
            </a:r>
            <a:r>
              <a:rPr lang="fr-FR" dirty="0">
                <a:solidFill>
                  <a:srgbClr val="D1D5DB"/>
                </a:solidFill>
                <a:latin typeface="Arial" pitchFamily="34" charset="0"/>
              </a:rPr>
              <a:t> </a:t>
            </a:r>
            <a:r>
              <a:rPr lang="fr-FR" dirty="0" err="1">
                <a:solidFill>
                  <a:srgbClr val="D1D5DB"/>
                </a:solidFill>
                <a:latin typeface="Arial" pitchFamily="34" charset="0"/>
              </a:rPr>
              <a:t>immediatement</a:t>
            </a:r>
            <a:r>
              <a:rPr lang="fr-FR" dirty="0">
                <a:solidFill>
                  <a:srgbClr val="D1D5DB"/>
                </a:solidFill>
                <a:latin typeface="Arial" pitchFamily="34" charset="0"/>
              </a:rPr>
              <a:t> avec </a:t>
            </a:r>
            <a:r>
              <a:rPr lang="fr-FR" dirty="0" err="1">
                <a:solidFill>
                  <a:srgbClr val="D1D5DB"/>
                </a:solidFill>
                <a:latin typeface="Arial" pitchFamily="34" charset="0"/>
              </a:rPr>
              <a:t>Flask</a:t>
            </a:r>
            <a:r>
              <a:rPr lang="fr-FR" dirty="0">
                <a:solidFill>
                  <a:srgbClr val="D1D5DB"/>
                </a:solidFill>
                <a:latin typeface="Arial" pitchFamily="34" charset="0"/>
              </a:rPr>
              <a:t>, sans serveur </a:t>
            </a:r>
            <a:r>
              <a:rPr lang="fr-FR" dirty="0" err="1">
                <a:solidFill>
                  <a:srgbClr val="D1D5DB"/>
                </a:solidFill>
                <a:latin typeface="Arial" pitchFamily="34" charset="0"/>
              </a:rPr>
              <a:t>dedie</a:t>
            </a:r>
            <a:r>
              <a:rPr lang="fr-FR" dirty="0">
                <a:solidFill>
                  <a:srgbClr val="D1D5DB"/>
                </a:solidFill>
                <a:latin typeface="Arial" pitchFamily="34" charset="0"/>
              </a:rPr>
              <a:t> ni base de </a:t>
            </a:r>
            <a:r>
              <a:rPr lang="fr-FR" dirty="0" err="1">
                <a:solidFill>
                  <a:srgbClr val="D1D5DB"/>
                </a:solidFill>
                <a:latin typeface="Arial" pitchFamily="34" charset="0"/>
              </a:rPr>
              <a:t>donnees</a:t>
            </a:r>
            <a:r>
              <a:rPr lang="fr-FR" dirty="0">
                <a:solidFill>
                  <a:srgbClr val="D1D5DB"/>
                </a:solidFill>
                <a:latin typeface="Arial" pitchFamily="34" charset="0"/>
              </a:rPr>
              <a:t> complexe 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FD4E164E-5EF7-42EB-883A-8AF6DA4FBA43}"/>
              </a:ext>
            </a:extLst>
          </p:cNvPr>
          <p:cNvSpPr/>
          <p:nvPr/>
        </p:nvSpPr>
        <p:spPr>
          <a:xfrm>
            <a:off x="457200" y="59435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A78BFA"/>
                </a:solidFill>
                <a:latin typeface="Arial Black" pitchFamily="34" charset="0"/>
              </a:rPr>
              <a:t>Pourquoi la Solution Choisie ?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302EF56E-17D1-42D7-9BD7-026D1B436576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A78BFA"/>
                </a:solidFill>
                <a:latin typeface="Arial Black" pitchFamily="34" charset="0"/>
              </a:rPr>
              <a:t>05 / Avantages Concurrentiels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A4BG">
            <a:extLst>
              <a:ext uri="{FF2B5EF4-FFF2-40B4-BE49-F238E27FC236}">
                <a16:creationId xmlns:a16="http://schemas.microsoft.com/office/drawing/2014/main" id="{4C2BAA59-F8F7-4AC9-BED8-A1D643DFA0A8}"/>
              </a:ext>
            </a:extLst>
          </p:cNvPr>
          <p:cNvSpPr/>
          <p:nvPr/>
        </p:nvSpPr>
        <p:spPr>
          <a:xfrm>
            <a:off x="446320" y="1097280"/>
            <a:ext cx="8392880" cy="1097280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</a:ln>
        </p:spPr>
      </p:sp>
      <p:sp>
        <p:nvSpPr>
          <p:cNvPr id="62" name="A4Accent">
            <a:extLst>
              <a:ext uri="{FF2B5EF4-FFF2-40B4-BE49-F238E27FC236}">
                <a16:creationId xmlns:a16="http://schemas.microsoft.com/office/drawing/2014/main" id="{34CE1C4E-2A13-4756-82A7-5A147DA81240}"/>
              </a:ext>
            </a:extLst>
          </p:cNvPr>
          <p:cNvSpPr/>
          <p:nvPr/>
        </p:nvSpPr>
        <p:spPr>
          <a:xfrm>
            <a:off x="446320" y="1097280"/>
            <a:ext cx="182880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3" name="A4Text">
            <a:extLst>
              <a:ext uri="{FF2B5EF4-FFF2-40B4-BE49-F238E27FC236}">
                <a16:creationId xmlns:a16="http://schemas.microsoft.com/office/drawing/2014/main" id="{E21E294E-4D64-4825-A71F-E5D8878039C0}"/>
              </a:ext>
            </a:extLst>
          </p:cNvPr>
          <p:cNvSpPr/>
          <p:nvPr/>
        </p:nvSpPr>
        <p:spPr>
          <a:xfrm>
            <a:off x="720640" y="1097280"/>
            <a:ext cx="8118558" cy="109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fr-FR" sz="2400" b="1" dirty="0">
                <a:solidFill>
                  <a:srgbClr val="FFFFFF"/>
                </a:solidFill>
                <a:latin typeface="Arial" pitchFamily="34" charset="0"/>
              </a:rPr>
              <a:t>Performance ultra-rapide</a:t>
            </a:r>
          </a:p>
          <a:p>
            <a:r>
              <a:rPr lang="fr-FR" sz="1400" dirty="0" err="1">
                <a:solidFill>
                  <a:srgbClr val="D1D5DB"/>
                </a:solidFill>
                <a:latin typeface="Arial" pitchFamily="34" charset="0"/>
              </a:rPr>
              <a:t>Reponse</a:t>
            </a:r>
            <a:r>
              <a:rPr lang="fr-FR" sz="1400" dirty="0">
                <a:solidFill>
                  <a:srgbClr val="D1D5DB"/>
                </a:solidFill>
                <a:latin typeface="Arial" pitchFamily="34" charset="0"/>
              </a:rPr>
              <a:t> ultra-rapide </a:t>
            </a:r>
            <a:r>
              <a:rPr lang="fr-FR" sz="1400" dirty="0" err="1">
                <a:solidFill>
                  <a:srgbClr val="D1D5DB"/>
                </a:solidFill>
                <a:latin typeface="Arial" pitchFamily="34" charset="0"/>
              </a:rPr>
              <a:t>grace</a:t>
            </a:r>
            <a:r>
              <a:rPr lang="fr-FR" sz="1400" dirty="0">
                <a:solidFill>
                  <a:srgbClr val="D1D5DB"/>
                </a:solidFill>
                <a:latin typeface="Arial" pitchFamily="34" charset="0"/>
              </a:rPr>
              <a:t> a l'API </a:t>
            </a:r>
            <a:r>
              <a:rPr lang="fr-FR" sz="1400" dirty="0" err="1">
                <a:solidFill>
                  <a:srgbClr val="D1D5DB"/>
                </a:solidFill>
                <a:latin typeface="Arial" pitchFamily="34" charset="0"/>
              </a:rPr>
              <a:t>Groq</a:t>
            </a:r>
            <a:r>
              <a:rPr lang="fr-FR" sz="1400" dirty="0">
                <a:solidFill>
                  <a:srgbClr val="D1D5DB"/>
                </a:solidFill>
                <a:latin typeface="Arial" pitchFamily="34" charset="0"/>
              </a:rPr>
              <a:t> : latence inferieure a 1.2s sans outil, bien superieure aux solutions basees sur GPT-4 ou RAG vectoriel.</a:t>
            </a:r>
          </a:p>
        </p:txBody>
      </p:sp>
      <p:sp>
        <p:nvSpPr>
          <p:cNvPr id="64" name="A5BG">
            <a:extLst>
              <a:ext uri="{FF2B5EF4-FFF2-40B4-BE49-F238E27FC236}">
                <a16:creationId xmlns:a16="http://schemas.microsoft.com/office/drawing/2014/main" id="{E5202098-9F97-4C39-9C97-B1A2FD0167F7}"/>
              </a:ext>
            </a:extLst>
          </p:cNvPr>
          <p:cNvSpPr/>
          <p:nvPr/>
        </p:nvSpPr>
        <p:spPr>
          <a:xfrm>
            <a:off x="446319" y="2286000"/>
            <a:ext cx="8392879" cy="1097280"/>
          </a:xfrm>
          <a:prstGeom prst="rect">
            <a:avLst/>
          </a:prstGeom>
          <a:solidFill>
            <a:srgbClr val="1A1A28"/>
          </a:solidFill>
          <a:ln w="15240">
            <a:solidFill>
              <a:srgbClr val="5B21B6"/>
            </a:solidFill>
          </a:ln>
        </p:spPr>
      </p:sp>
      <p:sp>
        <p:nvSpPr>
          <p:cNvPr id="65" name="A5Accent">
            <a:extLst>
              <a:ext uri="{FF2B5EF4-FFF2-40B4-BE49-F238E27FC236}">
                <a16:creationId xmlns:a16="http://schemas.microsoft.com/office/drawing/2014/main" id="{E08C891F-1CFB-4040-87DC-194D8B4C2FFD}"/>
              </a:ext>
            </a:extLst>
          </p:cNvPr>
          <p:cNvSpPr/>
          <p:nvPr/>
        </p:nvSpPr>
        <p:spPr>
          <a:xfrm>
            <a:off x="446320" y="2286000"/>
            <a:ext cx="182880" cy="10972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66" name="A5Text">
            <a:extLst>
              <a:ext uri="{FF2B5EF4-FFF2-40B4-BE49-F238E27FC236}">
                <a16:creationId xmlns:a16="http://schemas.microsoft.com/office/drawing/2014/main" id="{F9962C39-4275-4C07-BBAE-87BCE16AAF6D}"/>
              </a:ext>
            </a:extLst>
          </p:cNvPr>
          <p:cNvSpPr/>
          <p:nvPr/>
        </p:nvSpPr>
        <p:spPr>
          <a:xfrm>
            <a:off x="720640" y="2286000"/>
            <a:ext cx="8118558" cy="109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fr-FR" sz="2400" b="1" dirty="0">
                <a:solidFill>
                  <a:srgbClr val="FFFFFF"/>
                </a:solidFill>
                <a:latin typeface="Arial" pitchFamily="34" charset="0"/>
              </a:rPr>
              <a:t>UX multimodale unique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D1D5DB"/>
                </a:solidFill>
                <a:latin typeface="Arial" pitchFamily="34" charset="0"/>
              </a:rPr>
              <a:t>Streaming + vision LLaMA 4 Scout + 3 themes + multilingue : aucune alternative evaluee ne combine ces 4 atouts simultanement.</a:t>
            </a:r>
          </a:p>
        </p:txBody>
      </p:sp>
      <p:sp>
        <p:nvSpPr>
          <p:cNvPr id="67" name="A6BG">
            <a:extLst>
              <a:ext uri="{FF2B5EF4-FFF2-40B4-BE49-F238E27FC236}">
                <a16:creationId xmlns:a16="http://schemas.microsoft.com/office/drawing/2014/main" id="{81763792-0702-4CFB-A940-8A5967E1D50E}"/>
              </a:ext>
            </a:extLst>
          </p:cNvPr>
          <p:cNvSpPr/>
          <p:nvPr/>
        </p:nvSpPr>
        <p:spPr>
          <a:xfrm>
            <a:off x="446320" y="3474720"/>
            <a:ext cx="8392880" cy="1097280"/>
          </a:xfrm>
          <a:prstGeom prst="rect">
            <a:avLst/>
          </a:prstGeom>
          <a:solidFill>
            <a:srgbClr val="1A1A28"/>
          </a:solidFill>
          <a:ln w="15240">
            <a:solidFill>
              <a:srgbClr val="4C1D95"/>
            </a:solidFill>
          </a:ln>
        </p:spPr>
      </p:sp>
      <p:sp>
        <p:nvSpPr>
          <p:cNvPr id="68" name="A6Accent">
            <a:extLst>
              <a:ext uri="{FF2B5EF4-FFF2-40B4-BE49-F238E27FC236}">
                <a16:creationId xmlns:a16="http://schemas.microsoft.com/office/drawing/2014/main" id="{2742B7A4-4C0F-40B4-8278-A80807514A1A}"/>
              </a:ext>
            </a:extLst>
          </p:cNvPr>
          <p:cNvSpPr/>
          <p:nvPr/>
        </p:nvSpPr>
        <p:spPr>
          <a:xfrm>
            <a:off x="446320" y="3474720"/>
            <a:ext cx="182880" cy="109728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69" name="A6Text">
            <a:extLst>
              <a:ext uri="{FF2B5EF4-FFF2-40B4-BE49-F238E27FC236}">
                <a16:creationId xmlns:a16="http://schemas.microsoft.com/office/drawing/2014/main" id="{2B574508-9C26-4A79-8F74-AD6BDAFFF4EE}"/>
              </a:ext>
            </a:extLst>
          </p:cNvPr>
          <p:cNvSpPr/>
          <p:nvPr/>
        </p:nvSpPr>
        <p:spPr>
          <a:xfrm>
            <a:off x="720640" y="3474720"/>
            <a:ext cx="8118558" cy="109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fr-FR" sz="2400" b="1" dirty="0">
                <a:solidFill>
                  <a:srgbClr val="FFFFFF"/>
                </a:solidFill>
                <a:latin typeface="Arial" pitchFamily="34" charset="0"/>
              </a:rPr>
              <a:t>Scalabilite evolutive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D1D5DB"/>
                </a:solidFill>
                <a:latin typeface="Arial" pitchFamily="34" charset="0"/>
              </a:rPr>
              <a:t>Architecture modulaire permettant d'ajouter nouveaux outils gaming sans refactoring majeur.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AF513720-5EB7-4987-A008-8F68A64667EA}"/>
              </a:ext>
            </a:extLst>
          </p:cNvPr>
          <p:cNvSpPr/>
          <p:nvPr/>
        </p:nvSpPr>
        <p:spPr>
          <a:xfrm>
            <a:off x="446319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A78BFA"/>
                </a:solidFill>
                <a:latin typeface="Arial Black" pitchFamily="34" charset="0"/>
              </a:rPr>
              <a:t>Pourquoi la Solution Choisie ?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40750263-9880-4714-8BAB-BC7A1257505A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A78BFA"/>
                </a:solidFill>
                <a:latin typeface="Arial Black" pitchFamily="34" charset="0"/>
              </a:rPr>
              <a:t>05 / Avantages Concurrentiels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/ Interface Utilisateur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384048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32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11787" y="9326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60720" y="9326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420624"/>
          </a:xfrm>
          <a:prstGeom prst="rect">
            <a:avLst/>
          </a:prstGeom>
          <a:solidFill>
            <a:srgbClr val="1A1A2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350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fonctionnel avec historique</a:t>
            </a:r>
            <a:endParaRPr lang="en-US" sz="1400" b="1" dirty="0"/>
          </a:p>
        </p:txBody>
      </p:sp>
      <p:sp>
        <p:nvSpPr>
          <p:cNvPr id="9" name="Shape 7"/>
          <p:cNvSpPr/>
          <p:nvPr/>
        </p:nvSpPr>
        <p:spPr>
          <a:xfrm>
            <a:off x="3711787" y="1389888"/>
            <a:ext cx="118872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711787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OBLIGATOIRE </a:t>
            </a:r>
            <a:r>
              <a:rPr lang="fr-TN" sz="900" dirty="0"/>
              <a:t>✔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11893" y="1335024"/>
            <a:ext cx="341037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multi-sessions + localStorage</a:t>
            </a:r>
            <a:endParaRPr lang="en-US" sz="1100" b="1" dirty="0">
              <a:solidFill>
                <a:srgbClr val="CC99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8412480" cy="420624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7739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Entree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affichage reponse</a:t>
            </a:r>
            <a:endParaRPr lang="en-US" sz="1400" b="1" dirty="0"/>
          </a:p>
        </p:txBody>
      </p:sp>
      <p:sp>
        <p:nvSpPr>
          <p:cNvPr id="14" name="Shape 12"/>
          <p:cNvSpPr/>
          <p:nvPr/>
        </p:nvSpPr>
        <p:spPr>
          <a:xfrm>
            <a:off x="3711787" y="1828800"/>
            <a:ext cx="118872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711787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OBLIGATOIRE </a:t>
            </a:r>
            <a:r>
              <a:rPr lang="fr-TN" sz="900" dirty="0"/>
              <a:t>✔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11893" y="1773936"/>
            <a:ext cx="341037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Textarea auto-resize, bulles differenciees</a:t>
            </a:r>
            <a:endParaRPr lang="en-US" sz="1100" b="1" dirty="0">
              <a:solidFill>
                <a:srgbClr val="CC99FF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" y="2176272"/>
            <a:ext cx="8412480" cy="420624"/>
          </a:xfrm>
          <a:prstGeom prst="rect">
            <a:avLst/>
          </a:prstGeom>
          <a:solidFill>
            <a:srgbClr val="1A1A2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2128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Titre, description, organisation</a:t>
            </a:r>
            <a:endParaRPr lang="en-US" sz="1400" b="1" dirty="0"/>
          </a:p>
        </p:txBody>
      </p:sp>
      <p:sp>
        <p:nvSpPr>
          <p:cNvPr id="19" name="Shape 17"/>
          <p:cNvSpPr/>
          <p:nvPr/>
        </p:nvSpPr>
        <p:spPr>
          <a:xfrm>
            <a:off x="3711787" y="2267712"/>
            <a:ext cx="118872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711787" y="2267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OBLIGATOIRE </a:t>
            </a:r>
            <a:r>
              <a:rPr lang="fr-TN" sz="900" dirty="0"/>
              <a:t>✔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11893" y="2212848"/>
            <a:ext cx="341037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GameMind, cap-bar, sections claires</a:t>
            </a:r>
            <a:endParaRPr lang="en-US" sz="1100" b="1" dirty="0">
              <a:solidFill>
                <a:srgbClr val="CC99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2615184"/>
            <a:ext cx="8412480" cy="420624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651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Personnalisation visuelle (themes)</a:t>
            </a:r>
            <a:endParaRPr lang="en-US" sz="1400" b="1" dirty="0"/>
          </a:p>
        </p:txBody>
      </p:sp>
      <p:sp>
        <p:nvSpPr>
          <p:cNvPr id="24" name="Shape 22"/>
          <p:cNvSpPr/>
          <p:nvPr/>
        </p:nvSpPr>
        <p:spPr>
          <a:xfrm>
            <a:off x="3711787" y="2706624"/>
            <a:ext cx="118872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3711787" y="27066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Recommande</a:t>
            </a: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fr-TN" sz="900" dirty="0"/>
              <a:t>✔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11893" y="2651760"/>
            <a:ext cx="341037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themes : Dark, Light, Neon</a:t>
            </a:r>
            <a:endParaRPr lang="en-US" sz="1100" b="1" dirty="0">
              <a:solidFill>
                <a:srgbClr val="CC99FF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65760" y="3054096"/>
            <a:ext cx="8412480" cy="420624"/>
          </a:xfrm>
          <a:prstGeom prst="rect">
            <a:avLst/>
          </a:prstGeom>
          <a:solidFill>
            <a:srgbClr val="1A1A2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090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Exemples de questions pre-remplies</a:t>
            </a:r>
            <a:endParaRPr lang="en-US" sz="1400" b="1" dirty="0"/>
          </a:p>
        </p:txBody>
      </p:sp>
      <p:sp>
        <p:nvSpPr>
          <p:cNvPr id="29" name="Shape 27"/>
          <p:cNvSpPr/>
          <p:nvPr/>
        </p:nvSpPr>
        <p:spPr>
          <a:xfrm>
            <a:off x="3711787" y="3145536"/>
            <a:ext cx="118872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3711787" y="31455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Recommande</a:t>
            </a: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fr-TN" sz="900" dirty="0"/>
              <a:t>✔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11893" y="3090672"/>
            <a:ext cx="341037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boutons exemples sur ecran d'accueil</a:t>
            </a:r>
            <a:endParaRPr lang="en-US" sz="1100" b="1" dirty="0">
              <a:solidFill>
                <a:srgbClr val="CC99FF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65760" y="3493008"/>
            <a:ext cx="8412480" cy="420624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5295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de fichiers</a:t>
            </a:r>
            <a:endParaRPr lang="en-US" sz="1400" b="1" dirty="0"/>
          </a:p>
        </p:txBody>
      </p:sp>
      <p:sp>
        <p:nvSpPr>
          <p:cNvPr id="34" name="Shape 32"/>
          <p:cNvSpPr/>
          <p:nvPr/>
        </p:nvSpPr>
        <p:spPr>
          <a:xfrm>
            <a:off x="3711787" y="3584448"/>
            <a:ext cx="118872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3711787" y="3584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</a:t>
            </a:r>
            <a:r>
              <a:rPr lang="fr-TN" sz="900" dirty="0"/>
              <a:t>✔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11893" y="3529584"/>
            <a:ext cx="341037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en base64, vision multimodale LLaMA 4</a:t>
            </a:r>
            <a:endParaRPr lang="en-US" sz="1100" b="1" dirty="0">
              <a:solidFill>
                <a:srgbClr val="CC99FF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65760" y="3931920"/>
            <a:ext cx="8412480" cy="420624"/>
          </a:xfrm>
          <a:prstGeom prst="rect">
            <a:avLst/>
          </a:prstGeom>
          <a:solidFill>
            <a:srgbClr val="1A1A28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9684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de la reponse</a:t>
            </a:r>
            <a:endParaRPr lang="en-US" sz="1400" b="1" dirty="0"/>
          </a:p>
        </p:txBody>
      </p:sp>
      <p:sp>
        <p:nvSpPr>
          <p:cNvPr id="39" name="Shape 37"/>
          <p:cNvSpPr/>
          <p:nvPr/>
        </p:nvSpPr>
        <p:spPr>
          <a:xfrm>
            <a:off x="3711787" y="4023360"/>
            <a:ext cx="118872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3711787" y="4023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</a:t>
            </a:r>
            <a:r>
              <a:rPr lang="fr-TN" sz="900" dirty="0"/>
              <a:t>✔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11893" y="3968496"/>
            <a:ext cx="341037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 frappe lettre par lettre (16ms)</a:t>
            </a:r>
            <a:endParaRPr lang="en-US" sz="1100" b="1" dirty="0">
              <a:solidFill>
                <a:srgbClr val="CC99FF"/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65760" y="4370832"/>
            <a:ext cx="8412480" cy="420624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407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sombre / clair</a:t>
            </a:r>
            <a:endParaRPr lang="en-US" sz="1400" b="1" dirty="0"/>
          </a:p>
        </p:txBody>
      </p:sp>
      <p:sp>
        <p:nvSpPr>
          <p:cNvPr id="44" name="Shape 42"/>
          <p:cNvSpPr/>
          <p:nvPr/>
        </p:nvSpPr>
        <p:spPr>
          <a:xfrm>
            <a:off x="3711787" y="4462272"/>
            <a:ext cx="118872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3711787" y="4462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</a:t>
            </a:r>
            <a:r>
              <a:rPr lang="fr-TN" sz="900" dirty="0"/>
              <a:t>✔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11893" y="4407408"/>
            <a:ext cx="341037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9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+ Light + Neon implementes</a:t>
            </a:r>
            <a:endParaRPr lang="en-US" sz="1100" b="1" dirty="0">
              <a:solidFill>
                <a:srgbClr val="CC99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/ Raisonnement Multi-Etapes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325880" cy="3431194"/>
          </a:xfrm>
          <a:prstGeom prst="rect">
            <a:avLst/>
          </a:prstGeom>
          <a:solidFill>
            <a:srgbClr val="4C1D9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24711"/>
            <a:ext cx="1325880" cy="68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08759"/>
            <a:ext cx="1234440" cy="68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372821"/>
            <a:ext cx="1234440" cy="1767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recoit le payload JSON (messages + fichier optionnel)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645920" y="1618487"/>
            <a:ext cx="118872" cy="857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64792" y="1051560"/>
            <a:ext cx="1325880" cy="3431194"/>
          </a:xfrm>
          <a:prstGeom prst="rect">
            <a:avLst/>
          </a:prstGeom>
          <a:solidFill>
            <a:srgbClr val="5B21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64792" y="1124711"/>
            <a:ext cx="1325880" cy="68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10512" y="1508759"/>
            <a:ext cx="1234440" cy="68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1er Appel LLM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10512" y="2582236"/>
            <a:ext cx="1234440" cy="128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/ LLaMA analyse la requete et decide : outil OU reponse directe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90672" y="1618487"/>
            <a:ext cx="118872" cy="857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09544" y="1051560"/>
            <a:ext cx="1325880" cy="3431194"/>
          </a:xfrm>
          <a:prstGeom prst="rect">
            <a:avLst/>
          </a:prstGeom>
          <a:solidFill>
            <a:srgbClr val="6D28D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9544" y="1124711"/>
            <a:ext cx="1325880" cy="68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55264" y="1508759"/>
            <a:ext cx="1234440" cy="68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Execution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55264" y="2372821"/>
            <a:ext cx="1280160" cy="165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tool_calls present : execution Python + collecte resultats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35424" y="1618487"/>
            <a:ext cx="118872" cy="857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54296" y="1051560"/>
            <a:ext cx="1325880" cy="3431194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54296" y="1124711"/>
            <a:ext cx="1325880" cy="68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00016" y="1508759"/>
            <a:ext cx="1234440" cy="68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0016" y="2372821"/>
            <a:ext cx="1234440" cy="185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Resultats injectes dans l'historique (role: tool)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80176" y="1618487"/>
            <a:ext cx="118872" cy="857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099048" y="1051560"/>
            <a:ext cx="1325880" cy="3431194"/>
          </a:xfrm>
          <a:prstGeom prst="rect">
            <a:avLst/>
          </a:prstGeom>
          <a:solidFill>
            <a:srgbClr val="8B5CF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99048" y="1124711"/>
            <a:ext cx="1325880" cy="68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44768" y="1508759"/>
            <a:ext cx="1234440" cy="68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2eme Appel LLM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44768" y="2372821"/>
            <a:ext cx="1234440" cy="185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Synthese finale structuree (Plan</a:t>
            </a:r>
          </a:p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b="1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Reponse</a:t>
            </a:r>
            <a:endParaRPr lang="en-US" b="1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Astuces</a:t>
            </a:r>
            <a:r>
              <a:rPr lang="en-US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424928" y="1618487"/>
            <a:ext cx="118872" cy="857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543800" y="1051560"/>
            <a:ext cx="1325880" cy="3431194"/>
          </a:xfrm>
          <a:prstGeom prst="rect">
            <a:avLst/>
          </a:prstGeom>
          <a:solidFill>
            <a:srgbClr val="A78B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43800" y="1124711"/>
            <a:ext cx="1325880" cy="68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89520" y="1508759"/>
            <a:ext cx="1234440" cy="686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 UI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89520" y="2372821"/>
            <a:ext cx="1234440" cy="185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{response} </a:t>
            </a:r>
            <a:r>
              <a:rPr lang="en-US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envoyé</a:t>
            </a:r>
            <a:r>
              <a:rPr lang="en-US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streaming lettre par lettre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/ Resultats &amp; Evaluation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65760" y="8778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de Tests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1243584"/>
            <a:ext cx="8412480" cy="347472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2618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12618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1261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Comportement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12618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591056"/>
            <a:ext cx="8412480" cy="400304"/>
          </a:xfrm>
          <a:prstGeom prst="rect">
            <a:avLst/>
          </a:prstGeom>
          <a:solidFill>
            <a:srgbClr val="1A1A2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16547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- Actualites</a:t>
            </a:r>
            <a:endParaRPr lang="en-US" sz="1100" b="1" dirty="0"/>
          </a:p>
        </p:txBody>
      </p:sp>
      <p:sp>
        <p:nvSpPr>
          <p:cNvPr id="27" name="Text 25"/>
          <p:cNvSpPr/>
          <p:nvPr/>
        </p:nvSpPr>
        <p:spPr>
          <a:xfrm>
            <a:off x="2377440" y="165472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Quelles nouvelles sur GTA 6 ?</a:t>
            </a:r>
            <a:endParaRPr lang="en-US" sz="1100" b="1" dirty="0"/>
          </a:p>
        </p:txBody>
      </p:sp>
      <p:sp>
        <p:nvSpPr>
          <p:cNvPr id="28" name="Text 26"/>
          <p:cNvSpPr/>
          <p:nvPr/>
        </p:nvSpPr>
        <p:spPr>
          <a:xfrm>
            <a:off x="5074920" y="165472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Appel get_game_latest_news</a:t>
            </a:r>
            <a:endParaRPr lang="en-US" sz="1100" b="1" dirty="0"/>
          </a:p>
        </p:txBody>
      </p:sp>
      <p:sp>
        <p:nvSpPr>
          <p:cNvPr id="29" name="Text 27"/>
          <p:cNvSpPr/>
          <p:nvPr/>
        </p:nvSpPr>
        <p:spPr>
          <a:xfrm>
            <a:off x="8275320" y="16276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1975442"/>
            <a:ext cx="8412480" cy="400304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31" name="Text 29"/>
          <p:cNvSpPr/>
          <p:nvPr/>
        </p:nvSpPr>
        <p:spPr>
          <a:xfrm>
            <a:off x="495904" y="2014389"/>
            <a:ext cx="1790095" cy="320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- Bottleneck</a:t>
            </a:r>
            <a:endParaRPr lang="en-US" sz="1100" b="1" dirty="0"/>
          </a:p>
        </p:txBody>
      </p:sp>
      <p:sp>
        <p:nvSpPr>
          <p:cNvPr id="32" name="Text 30"/>
          <p:cNvSpPr/>
          <p:nvPr/>
        </p:nvSpPr>
        <p:spPr>
          <a:xfrm>
            <a:off x="2431626" y="2014389"/>
            <a:ext cx="2506133" cy="320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i3 + RTX 4090 : bon setup ?</a:t>
            </a:r>
            <a:endParaRPr lang="en-US" sz="1100" b="1" dirty="0"/>
          </a:p>
        </p:txBody>
      </p:sp>
      <p:sp>
        <p:nvSpPr>
          <p:cNvPr id="33" name="Text 31"/>
          <p:cNvSpPr/>
          <p:nvPr/>
        </p:nvSpPr>
        <p:spPr>
          <a:xfrm>
            <a:off x="5138782" y="2014389"/>
            <a:ext cx="2953657" cy="320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+ score % affiche</a:t>
            </a:r>
            <a:endParaRPr lang="en-US" sz="1100" b="1" dirty="0"/>
          </a:p>
        </p:txBody>
      </p:sp>
      <p:sp>
        <p:nvSpPr>
          <p:cNvPr id="34" name="Text 32"/>
          <p:cNvSpPr/>
          <p:nvPr/>
        </p:nvSpPr>
        <p:spPr>
          <a:xfrm>
            <a:off x="8284028" y="2014389"/>
            <a:ext cx="402771" cy="320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2368296"/>
            <a:ext cx="8412480" cy="400304"/>
          </a:xfrm>
          <a:prstGeom prst="rect">
            <a:avLst/>
          </a:prstGeom>
          <a:solidFill>
            <a:srgbClr val="1A1A28"/>
          </a:solidFill>
          <a:ln/>
        </p:spPr>
        <p:txBody>
          <a:bodyPr/>
          <a:lstStyle/>
          <a:p>
            <a:endParaRPr lang="fr-TN" dirty="0"/>
          </a:p>
        </p:txBody>
      </p:sp>
      <p:sp>
        <p:nvSpPr>
          <p:cNvPr id="36" name="Text 34"/>
          <p:cNvSpPr/>
          <p:nvPr/>
        </p:nvSpPr>
        <p:spPr>
          <a:xfrm>
            <a:off x="495904" y="2372358"/>
            <a:ext cx="1790095" cy="320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Tool</a:t>
            </a:r>
            <a:endParaRPr lang="en-US" sz="1100" b="1" dirty="0"/>
          </a:p>
        </p:txBody>
      </p:sp>
      <p:sp>
        <p:nvSpPr>
          <p:cNvPr id="37" name="Text 35"/>
          <p:cNvSpPr/>
          <p:nvPr/>
        </p:nvSpPr>
        <p:spPr>
          <a:xfrm>
            <a:off x="2431626" y="2372358"/>
            <a:ext cx="2506133" cy="320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Meilleur jeu pour debutant ?</a:t>
            </a:r>
            <a:endParaRPr lang="en-US" sz="1100" b="1" dirty="0"/>
          </a:p>
        </p:txBody>
      </p:sp>
      <p:sp>
        <p:nvSpPr>
          <p:cNvPr id="38" name="Text 36"/>
          <p:cNvSpPr/>
          <p:nvPr/>
        </p:nvSpPr>
        <p:spPr>
          <a:xfrm>
            <a:off x="5138782" y="2372358"/>
            <a:ext cx="2953657" cy="320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Reponse directe structuree</a:t>
            </a:r>
            <a:endParaRPr lang="en-US" sz="1100" b="1" dirty="0"/>
          </a:p>
        </p:txBody>
      </p:sp>
      <p:sp>
        <p:nvSpPr>
          <p:cNvPr id="39" name="Text 37"/>
          <p:cNvSpPr/>
          <p:nvPr/>
        </p:nvSpPr>
        <p:spPr>
          <a:xfrm>
            <a:off x="8284028" y="2372358"/>
            <a:ext cx="402771" cy="320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2777744"/>
            <a:ext cx="8412480" cy="433832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2814320"/>
            <a:ext cx="1828800" cy="34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Multilingue EN</a:t>
            </a:r>
            <a:endParaRPr lang="en-US" sz="1100" b="1" dirty="0"/>
          </a:p>
        </p:txBody>
      </p:sp>
      <p:sp>
        <p:nvSpPr>
          <p:cNvPr id="42" name="Text 40"/>
          <p:cNvSpPr/>
          <p:nvPr/>
        </p:nvSpPr>
        <p:spPr>
          <a:xfrm>
            <a:off x="2377440" y="2814320"/>
            <a:ext cx="2560320" cy="34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FPS games of 2025?</a:t>
            </a:r>
            <a:endParaRPr lang="en-US" sz="1100" b="1" dirty="0"/>
          </a:p>
        </p:txBody>
      </p:sp>
      <p:sp>
        <p:nvSpPr>
          <p:cNvPr id="43" name="Text 41"/>
          <p:cNvSpPr/>
          <p:nvPr/>
        </p:nvSpPr>
        <p:spPr>
          <a:xfrm>
            <a:off x="5074920" y="2814320"/>
            <a:ext cx="3017520" cy="34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Reponse en anglais</a:t>
            </a:r>
            <a:endParaRPr lang="en-US" sz="1100" b="1" dirty="0"/>
          </a:p>
        </p:txBody>
      </p:sp>
      <p:sp>
        <p:nvSpPr>
          <p:cNvPr id="44" name="Text 42"/>
          <p:cNvSpPr/>
          <p:nvPr/>
        </p:nvSpPr>
        <p:spPr>
          <a:xfrm>
            <a:off x="8275320" y="2814320"/>
            <a:ext cx="411480" cy="34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220720"/>
            <a:ext cx="8412480" cy="433832"/>
          </a:xfrm>
          <a:prstGeom prst="rect">
            <a:avLst/>
          </a:prstGeom>
          <a:solidFill>
            <a:srgbClr val="1A1A28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3257296"/>
            <a:ext cx="1828800" cy="34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Multilingue AR</a:t>
            </a:r>
            <a:endParaRPr lang="en-US" sz="1100" b="1" dirty="0"/>
          </a:p>
        </p:txBody>
      </p:sp>
      <p:sp>
        <p:nvSpPr>
          <p:cNvPr id="47" name="Text 45"/>
          <p:cNvSpPr/>
          <p:nvPr/>
        </p:nvSpPr>
        <p:spPr>
          <a:xfrm>
            <a:off x="2377440" y="3257296"/>
            <a:ext cx="2560320" cy="34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هي أفضل ألعاب الأكشن؟</a:t>
            </a:r>
            <a:endParaRPr lang="en-US" sz="1100" b="1" dirty="0"/>
          </a:p>
        </p:txBody>
      </p:sp>
      <p:sp>
        <p:nvSpPr>
          <p:cNvPr id="48" name="Text 46"/>
          <p:cNvSpPr/>
          <p:nvPr/>
        </p:nvSpPr>
        <p:spPr>
          <a:xfrm>
            <a:off x="5074920" y="3257296"/>
            <a:ext cx="3017520" cy="34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Reponse en arabe</a:t>
            </a:r>
            <a:endParaRPr lang="en-US" sz="1100" b="1" dirty="0"/>
          </a:p>
        </p:txBody>
      </p:sp>
      <p:sp>
        <p:nvSpPr>
          <p:cNvPr id="49" name="Text 47"/>
          <p:cNvSpPr/>
          <p:nvPr/>
        </p:nvSpPr>
        <p:spPr>
          <a:xfrm>
            <a:off x="8275320" y="3257296"/>
            <a:ext cx="411480" cy="34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3667522"/>
            <a:ext cx="8412480" cy="433831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3704098"/>
            <a:ext cx="1828800" cy="347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100" b="1" dirty="0"/>
          </a:p>
        </p:txBody>
      </p:sp>
      <p:sp>
        <p:nvSpPr>
          <p:cNvPr id="52" name="Text 50"/>
          <p:cNvSpPr/>
          <p:nvPr/>
        </p:nvSpPr>
        <p:spPr>
          <a:xfrm>
            <a:off x="2377440" y="3704098"/>
            <a:ext cx="2560320" cy="347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+ 'Que vois-tu ?'</a:t>
            </a:r>
            <a:endParaRPr lang="en-US" sz="1100" b="1" dirty="0"/>
          </a:p>
        </p:txBody>
      </p:sp>
      <p:sp>
        <p:nvSpPr>
          <p:cNvPr id="53" name="Text 51"/>
          <p:cNvSpPr/>
          <p:nvPr/>
        </p:nvSpPr>
        <p:spPr>
          <a:xfrm>
            <a:off x="5074920" y="3704098"/>
            <a:ext cx="3017520" cy="347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4 Scout active</a:t>
            </a:r>
            <a:endParaRPr lang="en-US" sz="1100" b="1" dirty="0"/>
          </a:p>
        </p:txBody>
      </p:sp>
      <p:sp>
        <p:nvSpPr>
          <p:cNvPr id="54" name="Text 52"/>
          <p:cNvSpPr/>
          <p:nvPr/>
        </p:nvSpPr>
        <p:spPr>
          <a:xfrm>
            <a:off x="8275320" y="3704098"/>
            <a:ext cx="411480" cy="347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4114322"/>
            <a:ext cx="8412480" cy="433831"/>
          </a:xfrm>
          <a:prstGeom prst="rect">
            <a:avLst/>
          </a:prstGeom>
          <a:solidFill>
            <a:srgbClr val="1A1A28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4150898"/>
            <a:ext cx="1828800" cy="347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</a:t>
            </a:r>
            <a:endParaRPr lang="en-US" sz="1100" b="1" dirty="0"/>
          </a:p>
        </p:txBody>
      </p:sp>
      <p:sp>
        <p:nvSpPr>
          <p:cNvPr id="57" name="Text 55"/>
          <p:cNvSpPr/>
          <p:nvPr/>
        </p:nvSpPr>
        <p:spPr>
          <a:xfrm>
            <a:off x="2377440" y="4150898"/>
            <a:ext cx="2560320" cy="347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Rechargement page navigateur</a:t>
            </a:r>
            <a:endParaRPr lang="en-US" sz="1100" b="1" dirty="0"/>
          </a:p>
        </p:txBody>
      </p:sp>
      <p:sp>
        <p:nvSpPr>
          <p:cNvPr id="58" name="Text 56"/>
          <p:cNvSpPr/>
          <p:nvPr/>
        </p:nvSpPr>
        <p:spPr>
          <a:xfrm>
            <a:off x="5074920" y="4150898"/>
            <a:ext cx="3017520" cy="347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Restaure depuis localStorage</a:t>
            </a:r>
            <a:endParaRPr lang="en-US" sz="1100" b="1" dirty="0"/>
          </a:p>
        </p:txBody>
      </p:sp>
      <p:sp>
        <p:nvSpPr>
          <p:cNvPr id="59" name="Text 57"/>
          <p:cNvSpPr/>
          <p:nvPr/>
        </p:nvSpPr>
        <p:spPr>
          <a:xfrm>
            <a:off x="8275320" y="4150898"/>
            <a:ext cx="411480" cy="347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61877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5B21B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/ 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7145" y="1245869"/>
            <a:ext cx="8319655" cy="3200399"/>
          </a:xfrm>
          <a:prstGeom prst="rect">
            <a:avLst/>
          </a:prstGeom>
          <a:solidFill>
            <a:srgbClr val="1A1A28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7145" y="1433945"/>
            <a:ext cx="8250382" cy="2930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GameMind repond integralement aux exigences de l'Option 3. Il demontre la maitrise du function calling, du raisonnement multi-etapes ReAct, de la gestion de contexte et de </a:t>
            </a:r>
            <a:r>
              <a:rPr lang="en-US" sz="28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l’integration</a:t>
            </a: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multimodal , le tout dans une UX de qualite professionnelle.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C684F1-9A2B-42C7-B499-B8E7E9EC6BC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2" name="Text 29">
            <a:extLst>
              <a:ext uri="{FF2B5EF4-FFF2-40B4-BE49-F238E27FC236}">
                <a16:creationId xmlns:a16="http://schemas.microsoft.com/office/drawing/2014/main" id="{AEFA19CF-868E-4447-9B05-0C34BDB5B12E}"/>
              </a:ext>
            </a:extLst>
          </p:cNvPr>
          <p:cNvSpPr/>
          <p:nvPr/>
        </p:nvSpPr>
        <p:spPr>
          <a:xfrm>
            <a:off x="571499" y="16687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1200" dirty="0">
                <a:solidFill>
                  <a:srgbClr val="FFFFFF"/>
                </a:solidFill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MERCI POUR VOTRE ATTENTION 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980F744C-B347-486C-82A6-36339B9B5315}"/>
              </a:ext>
            </a:extLst>
          </p:cNvPr>
          <p:cNvSpPr/>
          <p:nvPr/>
        </p:nvSpPr>
        <p:spPr>
          <a:xfrm>
            <a:off x="-757844" y="2217420"/>
            <a:ext cx="3657600" cy="3657600"/>
          </a:xfrm>
          <a:prstGeom prst="ellipse">
            <a:avLst/>
          </a:prstGeom>
          <a:solidFill>
            <a:srgbClr val="CC99FF">
              <a:alpha val="12000"/>
            </a:srgbClr>
          </a:solidFill>
          <a:ln/>
        </p:spPr>
        <p:txBody>
          <a:bodyPr/>
          <a:lstStyle/>
          <a:p>
            <a:endParaRPr lang="fr-TN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ABACE53F-0CBE-4C4C-893C-29D075A258D4}"/>
              </a:ext>
            </a:extLst>
          </p:cNvPr>
          <p:cNvSpPr/>
          <p:nvPr/>
        </p:nvSpPr>
        <p:spPr>
          <a:xfrm>
            <a:off x="6792883" y="208511"/>
            <a:ext cx="3657600" cy="3657600"/>
          </a:xfrm>
          <a:prstGeom prst="ellipse">
            <a:avLst/>
          </a:prstGeom>
          <a:solidFill>
            <a:srgbClr val="CC99FF">
              <a:alpha val="12000"/>
            </a:srgbClr>
          </a:solidFill>
          <a:ln/>
        </p:spPr>
        <p:txBody>
          <a:bodyPr/>
          <a:lstStyle/>
          <a:p>
            <a:endParaRPr lang="fr-TN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5FC0A0F8-5EE2-43CF-BFF7-F14692D1B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3866111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80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999</Words>
  <Application>Microsoft Office PowerPoint</Application>
  <PresentationFormat>Affichage à l'écran (16:9)</PresentationFormat>
  <Paragraphs>246</Paragraphs>
  <Slides>15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Courier New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GameMind AI Agent</dc:title>
  <dc:subject>PptxGenJS Presentation</dc:subject>
  <dc:creator>GameMind Project</dc:creator>
  <cp:lastModifiedBy>mayma</cp:lastModifiedBy>
  <cp:revision>21</cp:revision>
  <dcterms:created xsi:type="dcterms:W3CDTF">2026-05-18T19:26:32Z</dcterms:created>
  <dcterms:modified xsi:type="dcterms:W3CDTF">2026-05-19T07:57:22Z</dcterms:modified>
</cp:coreProperties>
</file>